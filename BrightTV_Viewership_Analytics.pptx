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7.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55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2B1E6B"/>
              </a:solidFill>
              <a:effectLst/>
            </c:spPr>
            <c:extLst>
              <c:ext xmlns:c16="http://schemas.microsoft.com/office/drawing/2014/chart" uri="{C3380CC4-5D6E-409C-BE32-E72D297353CC}">
                <c16:uniqueId val="{00000001-50F1-4052-921E-FEDB9B3892FF}"/>
              </c:ext>
            </c:extLst>
          </c:dPt>
          <c:dPt>
            <c:idx val="1"/>
            <c:bubble3D val="0"/>
            <c:spPr>
              <a:solidFill>
                <a:srgbClr val="F5A623"/>
              </a:solidFill>
              <a:effectLst/>
            </c:spPr>
            <c:extLst>
              <c:ext xmlns:c16="http://schemas.microsoft.com/office/drawing/2014/chart" uri="{C3380CC4-5D6E-409C-BE32-E72D297353CC}">
                <c16:uniqueId val="{00000003-50F1-4052-921E-FEDB9B3892FF}"/>
              </c:ext>
            </c:extLst>
          </c:dPt>
          <c:dPt>
            <c:idx val="2"/>
            <c:bubble3D val="0"/>
            <c:spPr>
              <a:solidFill>
                <a:srgbClr val="D9D3F5"/>
              </a:solidFill>
              <a:effectLst/>
            </c:spPr>
            <c:extLst>
              <c:ext xmlns:c16="http://schemas.microsoft.com/office/drawing/2014/chart" uri="{C3380CC4-5D6E-409C-BE32-E72D297353CC}">
                <c16:uniqueId val="{00000005-50F1-4052-921E-FEDB9B3892FF}"/>
              </c:ext>
            </c:extLst>
          </c:dPt>
          <c:dLbls>
            <c:dLbl>
              <c:idx val="0"/>
              <c:numFmt formatCode="0%" sourceLinked="0"/>
              <c:spPr/>
              <c:txPr>
                <a:bodyPr/>
                <a:lstStyle/>
                <a:p>
                  <a:pPr>
                    <a:defRPr sz="12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0F1-4052-921E-FEDB9B3892FF}"/>
                </c:ext>
              </c:extLst>
            </c:dLbl>
            <c:dLbl>
              <c:idx val="1"/>
              <c:numFmt formatCode="0%" sourceLinked="0"/>
              <c:spPr/>
              <c:txPr>
                <a:bodyPr/>
                <a:lstStyle/>
                <a:p>
                  <a:pPr>
                    <a:defRPr sz="12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0F1-4052-921E-FEDB9B3892FF}"/>
                </c:ext>
              </c:extLst>
            </c:dLbl>
            <c:dLbl>
              <c:idx val="2"/>
              <c:numFmt formatCode="0%" sourceLinked="0"/>
              <c:spPr/>
              <c:txPr>
                <a:bodyPr/>
                <a:lstStyle/>
                <a:p>
                  <a:pPr>
                    <a:defRPr sz="1200" b="0" i="0" u="none" strike="noStrike">
                      <a:solidFill>
                        <a:srgbClr val="FFFFFF"/>
                      </a:solidFill>
                      <a:latin typeface="Calibri"/>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0F1-4052-921E-FEDB9B3892FF}"/>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Male</c:v>
                </c:pt>
                <c:pt idx="1">
                  <c:v>Female</c:v>
                </c:pt>
                <c:pt idx="2">
                  <c:v>Unclassified</c:v>
                </c:pt>
              </c:strCache>
            </c:strRef>
          </c:cat>
          <c:val>
            <c:numRef>
              <c:f>Sheet1!$B$2:$B$4</c:f>
              <c:numCache>
                <c:formatCode>General</c:formatCode>
                <c:ptCount val="3"/>
                <c:pt idx="0">
                  <c:v>84.88</c:v>
                </c:pt>
                <c:pt idx="1">
                  <c:v>11.13</c:v>
                </c:pt>
                <c:pt idx="2">
                  <c:v>3.99</c:v>
                </c:pt>
              </c:numCache>
            </c:numRef>
          </c:val>
          <c:extLst>
            <c:ext xmlns:c16="http://schemas.microsoft.com/office/drawing/2014/chart" uri="{C3380CC4-5D6E-409C-BE32-E72D297353CC}">
              <c16:uniqueId val="{00000006-50F1-4052-921E-FEDB9B3892FF}"/>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1200">
              <a:solidFill>
                <a:srgbClr val="2A2A3C"/>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rgbClr val="2B1E6B"/>
                </a:solidFill>
                <a:latin typeface="Calibri"/>
              </a:defRPr>
            </a:pPr>
            <a:r>
              <a:rPr lang="en-ZA" sz="1300" b="1" i="0" u="none" strike="noStrike">
                <a:solidFill>
                  <a:srgbClr val="2B1E6B"/>
                </a:solidFill>
                <a:latin typeface="Calibri"/>
              </a:rPr>
              <a:t>Users by Age Group (%)</a:t>
            </a:r>
          </a:p>
        </c:rich>
      </c:tx>
      <c:overlay val="0"/>
    </c:title>
    <c:autoTitleDeleted val="0"/>
    <c:plotArea>
      <c:layout/>
      <c:barChart>
        <c:barDir val="col"/>
        <c:grouping val="clustered"/>
        <c:varyColors val="0"/>
        <c:ser>
          <c:idx val="0"/>
          <c:order val="0"/>
          <c:tx>
            <c:strRef>
              <c:f>Sheet1!$B$1</c:f>
              <c:strCache>
                <c:ptCount val="1"/>
                <c:pt idx="0">
                  <c:v>% of users</c:v>
                </c:pt>
              </c:strCache>
            </c:strRef>
          </c:tx>
          <c:spPr>
            <a:solidFill>
              <a:srgbClr val="C7BEF0"/>
            </a:solidFill>
            <a:effectLst/>
          </c:spPr>
          <c:invertIfNegative val="0"/>
          <c:dPt>
            <c:idx val="0"/>
            <c:invertIfNegative val="0"/>
            <c:bubble3D val="0"/>
            <c:extLst>
              <c:ext xmlns:c16="http://schemas.microsoft.com/office/drawing/2014/chart" uri="{C3380CC4-5D6E-409C-BE32-E72D297353CC}">
                <c16:uniqueId val="{00000001-2155-44B0-A5A6-ADB1B008D441}"/>
              </c:ext>
            </c:extLst>
          </c:dPt>
          <c:dPt>
            <c:idx val="1"/>
            <c:invertIfNegative val="0"/>
            <c:bubble3D val="0"/>
            <c:extLst>
              <c:ext xmlns:c16="http://schemas.microsoft.com/office/drawing/2014/chart" uri="{C3380CC4-5D6E-409C-BE32-E72D297353CC}">
                <c16:uniqueId val="{00000003-2155-44B0-A5A6-ADB1B008D441}"/>
              </c:ext>
            </c:extLst>
          </c:dPt>
          <c:dPt>
            <c:idx val="2"/>
            <c:invertIfNegative val="0"/>
            <c:bubble3D val="0"/>
            <c:spPr>
              <a:solidFill>
                <a:srgbClr val="2B1E6B"/>
              </a:solidFill>
              <a:effectLst/>
            </c:spPr>
            <c:extLst>
              <c:ext xmlns:c16="http://schemas.microsoft.com/office/drawing/2014/chart" uri="{C3380CC4-5D6E-409C-BE32-E72D297353CC}">
                <c16:uniqueId val="{00000005-2155-44B0-A5A6-ADB1B008D441}"/>
              </c:ext>
            </c:extLst>
          </c:dPt>
          <c:dPt>
            <c:idx val="3"/>
            <c:invertIfNegative val="0"/>
            <c:bubble3D val="0"/>
            <c:spPr>
              <a:solidFill>
                <a:srgbClr val="2B1E6B"/>
              </a:solidFill>
              <a:effectLst/>
            </c:spPr>
            <c:extLst>
              <c:ext xmlns:c16="http://schemas.microsoft.com/office/drawing/2014/chart" uri="{C3380CC4-5D6E-409C-BE32-E72D297353CC}">
                <c16:uniqueId val="{00000007-2155-44B0-A5A6-ADB1B008D441}"/>
              </c:ext>
            </c:extLst>
          </c:dPt>
          <c:dPt>
            <c:idx val="4"/>
            <c:invertIfNegative val="0"/>
            <c:bubble3D val="0"/>
            <c:extLst>
              <c:ext xmlns:c16="http://schemas.microsoft.com/office/drawing/2014/chart" uri="{C3380CC4-5D6E-409C-BE32-E72D297353CC}">
                <c16:uniqueId val="{00000009-2155-44B0-A5A6-ADB1B008D441}"/>
              </c:ext>
            </c:extLst>
          </c:dPt>
          <c:dPt>
            <c:idx val="5"/>
            <c:invertIfNegative val="0"/>
            <c:bubble3D val="0"/>
            <c:extLst>
              <c:ext xmlns:c16="http://schemas.microsoft.com/office/drawing/2014/chart" uri="{C3380CC4-5D6E-409C-BE32-E72D297353CC}">
                <c16:uniqueId val="{0000000B-2155-44B0-A5A6-ADB1B008D441}"/>
              </c:ext>
            </c:extLst>
          </c:dPt>
          <c:dPt>
            <c:idx val="6"/>
            <c:invertIfNegative val="0"/>
            <c:bubble3D val="0"/>
            <c:extLst>
              <c:ext xmlns:c16="http://schemas.microsoft.com/office/drawing/2014/chart" uri="{C3380CC4-5D6E-409C-BE32-E72D297353CC}">
                <c16:uniqueId val="{0000000D-2155-44B0-A5A6-ADB1B008D441}"/>
              </c:ext>
            </c:extLst>
          </c:dPt>
          <c:dLbls>
            <c:numFmt formatCode="0.0" sourceLinked="0"/>
            <c:spPr>
              <a:noFill/>
              <a:ln>
                <a:noFill/>
              </a:ln>
              <a:effectLst/>
            </c:spPr>
            <c:txPr>
              <a:bodyPr/>
              <a:lstStyle/>
              <a:p>
                <a:pPr>
                  <a:defRPr sz="1050" b="0" i="0" u="none" strike="noStrike">
                    <a:solidFill>
                      <a:srgbClr val="2A2A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&lt;18</c:v>
                </c:pt>
                <c:pt idx="1">
                  <c:v>18-24</c:v>
                </c:pt>
                <c:pt idx="2">
                  <c:v>25-34</c:v>
                </c:pt>
                <c:pt idx="3">
                  <c:v>35-44</c:v>
                </c:pt>
                <c:pt idx="4">
                  <c:v>45-54</c:v>
                </c:pt>
                <c:pt idx="5">
                  <c:v>55-64</c:v>
                </c:pt>
                <c:pt idx="6">
                  <c:v>65+</c:v>
                </c:pt>
              </c:strCache>
            </c:strRef>
          </c:cat>
          <c:val>
            <c:numRef>
              <c:f>Sheet1!$B$2:$B$8</c:f>
              <c:numCache>
                <c:formatCode>General</c:formatCode>
                <c:ptCount val="7"/>
                <c:pt idx="0">
                  <c:v>2.39</c:v>
                </c:pt>
                <c:pt idx="1">
                  <c:v>13.29</c:v>
                </c:pt>
                <c:pt idx="2">
                  <c:v>40.56</c:v>
                </c:pt>
                <c:pt idx="3">
                  <c:v>26.97</c:v>
                </c:pt>
                <c:pt idx="4">
                  <c:v>9.9</c:v>
                </c:pt>
                <c:pt idx="5">
                  <c:v>2.19</c:v>
                </c:pt>
                <c:pt idx="6">
                  <c:v>0.71</c:v>
                </c:pt>
              </c:numCache>
            </c:numRef>
          </c:val>
          <c:extLst>
            <c:ext xmlns:c16="http://schemas.microsoft.com/office/drawing/2014/chart" uri="{C3380CC4-5D6E-409C-BE32-E72D297353CC}">
              <c16:uniqueId val="{0000000E-2155-44B0-A5A6-ADB1B008D441}"/>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7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Users</c:v>
                </c:pt>
              </c:strCache>
            </c:strRef>
          </c:tx>
          <c:spPr>
            <a:solidFill>
              <a:srgbClr val="F5A623"/>
            </a:solidFill>
            <a:effectLst/>
          </c:spPr>
          <c:invertIfNegative val="0"/>
          <c:dPt>
            <c:idx val="0"/>
            <c:invertIfNegative val="0"/>
            <c:bubble3D val="0"/>
            <c:extLst>
              <c:ext xmlns:c16="http://schemas.microsoft.com/office/drawing/2014/chart" uri="{C3380CC4-5D6E-409C-BE32-E72D297353CC}">
                <c16:uniqueId val="{00000001-3704-41C8-BB84-725A534D3668}"/>
              </c:ext>
            </c:extLst>
          </c:dPt>
          <c:dPt>
            <c:idx val="1"/>
            <c:invertIfNegative val="0"/>
            <c:bubble3D val="0"/>
            <c:spPr>
              <a:solidFill>
                <a:srgbClr val="8A7FE0"/>
              </a:solidFill>
              <a:effectLst/>
            </c:spPr>
            <c:extLst>
              <c:ext xmlns:c16="http://schemas.microsoft.com/office/drawing/2014/chart" uri="{C3380CC4-5D6E-409C-BE32-E72D297353CC}">
                <c16:uniqueId val="{00000003-3704-41C8-BB84-725A534D3668}"/>
              </c:ext>
            </c:extLst>
          </c:dPt>
          <c:dPt>
            <c:idx val="2"/>
            <c:invertIfNegative val="0"/>
            <c:bubble3D val="0"/>
            <c:spPr>
              <a:solidFill>
                <a:srgbClr val="8A7FE0"/>
              </a:solidFill>
              <a:effectLst/>
            </c:spPr>
            <c:extLst>
              <c:ext xmlns:c16="http://schemas.microsoft.com/office/drawing/2014/chart" uri="{C3380CC4-5D6E-409C-BE32-E72D297353CC}">
                <c16:uniqueId val="{00000005-3704-41C8-BB84-725A534D3668}"/>
              </c:ext>
            </c:extLst>
          </c:dPt>
          <c:dPt>
            <c:idx val="3"/>
            <c:invertIfNegative val="0"/>
            <c:bubble3D val="0"/>
            <c:spPr>
              <a:solidFill>
                <a:srgbClr val="8A7FE0"/>
              </a:solidFill>
              <a:effectLst/>
            </c:spPr>
            <c:extLst>
              <c:ext xmlns:c16="http://schemas.microsoft.com/office/drawing/2014/chart" uri="{C3380CC4-5D6E-409C-BE32-E72D297353CC}">
                <c16:uniqueId val="{00000007-3704-41C8-BB84-725A534D3668}"/>
              </c:ext>
            </c:extLst>
          </c:dPt>
          <c:dPt>
            <c:idx val="4"/>
            <c:invertIfNegative val="0"/>
            <c:bubble3D val="0"/>
            <c:spPr>
              <a:solidFill>
                <a:srgbClr val="8A7FE0"/>
              </a:solidFill>
              <a:effectLst/>
            </c:spPr>
            <c:extLst>
              <c:ext xmlns:c16="http://schemas.microsoft.com/office/drawing/2014/chart" uri="{C3380CC4-5D6E-409C-BE32-E72D297353CC}">
                <c16:uniqueId val="{00000009-3704-41C8-BB84-725A534D3668}"/>
              </c:ext>
            </c:extLst>
          </c:dPt>
          <c:dPt>
            <c:idx val="5"/>
            <c:invertIfNegative val="0"/>
            <c:bubble3D val="0"/>
            <c:spPr>
              <a:solidFill>
                <a:srgbClr val="8A7FE0"/>
              </a:solidFill>
              <a:effectLst/>
            </c:spPr>
            <c:extLst>
              <c:ext xmlns:c16="http://schemas.microsoft.com/office/drawing/2014/chart" uri="{C3380CC4-5D6E-409C-BE32-E72D297353CC}">
                <c16:uniqueId val="{0000000B-3704-41C8-BB84-725A534D3668}"/>
              </c:ext>
            </c:extLst>
          </c:dPt>
          <c:dPt>
            <c:idx val="6"/>
            <c:invertIfNegative val="0"/>
            <c:bubble3D val="0"/>
            <c:spPr>
              <a:solidFill>
                <a:srgbClr val="8A7FE0"/>
              </a:solidFill>
              <a:effectLst/>
            </c:spPr>
            <c:extLst>
              <c:ext xmlns:c16="http://schemas.microsoft.com/office/drawing/2014/chart" uri="{C3380CC4-5D6E-409C-BE32-E72D297353CC}">
                <c16:uniqueId val="{0000000D-3704-41C8-BB84-725A534D3668}"/>
              </c:ext>
            </c:extLst>
          </c:dPt>
          <c:dPt>
            <c:idx val="7"/>
            <c:invertIfNegative val="0"/>
            <c:bubble3D val="0"/>
            <c:spPr>
              <a:solidFill>
                <a:srgbClr val="8A7FE0"/>
              </a:solidFill>
              <a:effectLst/>
            </c:spPr>
            <c:extLst>
              <c:ext xmlns:c16="http://schemas.microsoft.com/office/drawing/2014/chart" uri="{C3380CC4-5D6E-409C-BE32-E72D297353CC}">
                <c16:uniqueId val="{0000000F-3704-41C8-BB84-725A534D3668}"/>
              </c:ext>
            </c:extLst>
          </c:dPt>
          <c:dPt>
            <c:idx val="8"/>
            <c:invertIfNegative val="0"/>
            <c:bubble3D val="0"/>
            <c:spPr>
              <a:solidFill>
                <a:srgbClr val="8A7FE0"/>
              </a:solidFill>
              <a:effectLst/>
            </c:spPr>
            <c:extLst>
              <c:ext xmlns:c16="http://schemas.microsoft.com/office/drawing/2014/chart" uri="{C3380CC4-5D6E-409C-BE32-E72D297353CC}">
                <c16:uniqueId val="{00000011-3704-41C8-BB84-725A534D3668}"/>
              </c:ext>
            </c:extLst>
          </c:dPt>
          <c:dLbls>
            <c:numFmt formatCode="#,##0" sourceLinked="0"/>
            <c:spPr>
              <a:noFill/>
              <a:ln>
                <a:noFill/>
              </a:ln>
              <a:effectLst/>
            </c:spPr>
            <c:txPr>
              <a:bodyPr/>
              <a:lstStyle/>
              <a:p>
                <a:pPr>
                  <a:defRPr sz="1050" b="0" i="0" u="none" strike="noStrike">
                    <a:solidFill>
                      <a:srgbClr val="2A2A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Gauteng</c:v>
                </c:pt>
                <c:pt idx="1">
                  <c:v>Western Cape</c:v>
                </c:pt>
                <c:pt idx="2">
                  <c:v>Kwazulu Natal</c:v>
                </c:pt>
                <c:pt idx="3">
                  <c:v>Mpumalanga</c:v>
                </c:pt>
                <c:pt idx="4">
                  <c:v>Limpopo</c:v>
                </c:pt>
                <c:pt idx="5">
                  <c:v>Eastern Cape</c:v>
                </c:pt>
                <c:pt idx="6">
                  <c:v>North West</c:v>
                </c:pt>
                <c:pt idx="7">
                  <c:v>Free State</c:v>
                </c:pt>
                <c:pt idx="8">
                  <c:v>Northern Cape</c:v>
                </c:pt>
              </c:strCache>
            </c:strRef>
          </c:cat>
          <c:val>
            <c:numRef>
              <c:f>Sheet1!$B$2:$B$10</c:f>
              <c:numCache>
                <c:formatCode>General</c:formatCode>
                <c:ptCount val="9"/>
                <c:pt idx="0">
                  <c:v>1607</c:v>
                </c:pt>
                <c:pt idx="1">
                  <c:v>770</c:v>
                </c:pt>
                <c:pt idx="2">
                  <c:v>448</c:v>
                </c:pt>
                <c:pt idx="3">
                  <c:v>391</c:v>
                </c:pt>
                <c:pt idx="4">
                  <c:v>342</c:v>
                </c:pt>
                <c:pt idx="5">
                  <c:v>271</c:v>
                </c:pt>
                <c:pt idx="6">
                  <c:v>152</c:v>
                </c:pt>
                <c:pt idx="7">
                  <c:v>147</c:v>
                </c:pt>
                <c:pt idx="8">
                  <c:v>82</c:v>
                </c:pt>
              </c:numCache>
            </c:numRef>
          </c:val>
          <c:extLst>
            <c:ext xmlns:c16="http://schemas.microsoft.com/office/drawing/2014/chart" uri="{C3380CC4-5D6E-409C-BE32-E72D297353CC}">
              <c16:uniqueId val="{00000012-3704-41C8-BB84-725A534D3668}"/>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6B7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Sessions</c:v>
                </c:pt>
              </c:strCache>
            </c:strRef>
          </c:tx>
          <c:spPr>
            <a:solidFill>
              <a:srgbClr val="FF6B4A"/>
            </a:solidFill>
            <a:effectLst/>
          </c:spPr>
          <c:invertIfNegative val="0"/>
          <c:dPt>
            <c:idx val="0"/>
            <c:invertIfNegative val="0"/>
            <c:bubble3D val="0"/>
            <c:extLst>
              <c:ext xmlns:c16="http://schemas.microsoft.com/office/drawing/2014/chart" uri="{C3380CC4-5D6E-409C-BE32-E72D297353CC}">
                <c16:uniqueId val="{00000001-F215-42A4-9C04-32E48BBFA991}"/>
              </c:ext>
            </c:extLst>
          </c:dPt>
          <c:dPt>
            <c:idx val="1"/>
            <c:invertIfNegative val="0"/>
            <c:bubble3D val="0"/>
            <c:spPr>
              <a:solidFill>
                <a:srgbClr val="8A7FE0"/>
              </a:solidFill>
              <a:effectLst/>
            </c:spPr>
            <c:extLst>
              <c:ext xmlns:c16="http://schemas.microsoft.com/office/drawing/2014/chart" uri="{C3380CC4-5D6E-409C-BE32-E72D297353CC}">
                <c16:uniqueId val="{00000003-F215-42A4-9C04-32E48BBFA991}"/>
              </c:ext>
            </c:extLst>
          </c:dPt>
          <c:dPt>
            <c:idx val="2"/>
            <c:invertIfNegative val="0"/>
            <c:bubble3D val="0"/>
            <c:spPr>
              <a:solidFill>
                <a:srgbClr val="8A7FE0"/>
              </a:solidFill>
              <a:effectLst/>
            </c:spPr>
            <c:extLst>
              <c:ext xmlns:c16="http://schemas.microsoft.com/office/drawing/2014/chart" uri="{C3380CC4-5D6E-409C-BE32-E72D297353CC}">
                <c16:uniqueId val="{00000005-F215-42A4-9C04-32E48BBFA991}"/>
              </c:ext>
            </c:extLst>
          </c:dPt>
          <c:dPt>
            <c:idx val="3"/>
            <c:invertIfNegative val="0"/>
            <c:bubble3D val="0"/>
            <c:spPr>
              <a:solidFill>
                <a:srgbClr val="8A7FE0"/>
              </a:solidFill>
              <a:effectLst/>
            </c:spPr>
            <c:extLst>
              <c:ext xmlns:c16="http://schemas.microsoft.com/office/drawing/2014/chart" uri="{C3380CC4-5D6E-409C-BE32-E72D297353CC}">
                <c16:uniqueId val="{00000007-F215-42A4-9C04-32E48BBFA991}"/>
              </c:ext>
            </c:extLst>
          </c:dPt>
          <c:dPt>
            <c:idx val="4"/>
            <c:invertIfNegative val="0"/>
            <c:bubble3D val="0"/>
            <c:spPr>
              <a:solidFill>
                <a:srgbClr val="F5A623"/>
              </a:solidFill>
              <a:effectLst/>
            </c:spPr>
            <c:extLst>
              <c:ext xmlns:c16="http://schemas.microsoft.com/office/drawing/2014/chart" uri="{C3380CC4-5D6E-409C-BE32-E72D297353CC}">
                <c16:uniqueId val="{00000009-F215-42A4-9C04-32E48BBFA991}"/>
              </c:ext>
            </c:extLst>
          </c:dPt>
          <c:dPt>
            <c:idx val="5"/>
            <c:invertIfNegative val="0"/>
            <c:bubble3D val="0"/>
            <c:spPr>
              <a:solidFill>
                <a:srgbClr val="8A7FE0"/>
              </a:solidFill>
              <a:effectLst/>
            </c:spPr>
            <c:extLst>
              <c:ext xmlns:c16="http://schemas.microsoft.com/office/drawing/2014/chart" uri="{C3380CC4-5D6E-409C-BE32-E72D297353CC}">
                <c16:uniqueId val="{0000000B-F215-42A4-9C04-32E48BBFA991}"/>
              </c:ext>
            </c:extLst>
          </c:dPt>
          <c:dPt>
            <c:idx val="6"/>
            <c:invertIfNegative val="0"/>
            <c:bubble3D val="0"/>
            <c:spPr>
              <a:solidFill>
                <a:srgbClr val="8A7FE0"/>
              </a:solidFill>
              <a:effectLst/>
            </c:spPr>
            <c:extLst>
              <c:ext xmlns:c16="http://schemas.microsoft.com/office/drawing/2014/chart" uri="{C3380CC4-5D6E-409C-BE32-E72D297353CC}">
                <c16:uniqueId val="{0000000D-F215-42A4-9C04-32E48BBFA991}"/>
              </c:ext>
            </c:extLst>
          </c:dPt>
          <c:dLbls>
            <c:numFmt formatCode="#,##0" sourceLinked="0"/>
            <c:spPr>
              <a:noFill/>
              <a:ln>
                <a:noFill/>
              </a:ln>
              <a:effectLst/>
            </c:spPr>
            <c:txPr>
              <a:bodyPr/>
              <a:lstStyle/>
              <a:p>
                <a:pPr>
                  <a:defRPr sz="1100" b="0" i="0" u="none" strike="noStrike">
                    <a:solidFill>
                      <a:srgbClr val="2A2A3C"/>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956</c:v>
                </c:pt>
                <c:pt idx="1">
                  <c:v>1322</c:v>
                </c:pt>
                <c:pt idx="2">
                  <c:v>1553</c:v>
                </c:pt>
                <c:pt idx="3">
                  <c:v>1440</c:v>
                </c:pt>
                <c:pt idx="4">
                  <c:v>1673</c:v>
                </c:pt>
                <c:pt idx="5">
                  <c:v>1633</c:v>
                </c:pt>
                <c:pt idx="6">
                  <c:v>1418</c:v>
                </c:pt>
              </c:numCache>
            </c:numRef>
          </c:val>
          <c:extLst>
            <c:ext xmlns:c16="http://schemas.microsoft.com/office/drawing/2014/chart" uri="{C3380CC4-5D6E-409C-BE32-E72D297353CC}">
              <c16:uniqueId val="{0000000E-F215-42A4-9C04-32E48BBFA991}"/>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6B7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Sessions</c:v>
                </c:pt>
              </c:strCache>
            </c:strRef>
          </c:tx>
          <c:spPr>
            <a:ln w="31750" cap="flat">
              <a:solidFill>
                <a:srgbClr val="2B1E6B"/>
              </a:solidFill>
              <a:prstDash val="solid"/>
              <a:round/>
            </a:ln>
            <a:effectLst/>
          </c:spPr>
          <c:marker>
            <c:symbol val="none"/>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180</c:v>
                </c:pt>
                <c:pt idx="1">
                  <c:v>103</c:v>
                </c:pt>
                <c:pt idx="2">
                  <c:v>80</c:v>
                </c:pt>
                <c:pt idx="3">
                  <c:v>55</c:v>
                </c:pt>
                <c:pt idx="4">
                  <c:v>49</c:v>
                </c:pt>
                <c:pt idx="5">
                  <c:v>94</c:v>
                </c:pt>
                <c:pt idx="6">
                  <c:v>179</c:v>
                </c:pt>
                <c:pt idx="7">
                  <c:v>298</c:v>
                </c:pt>
                <c:pt idx="8">
                  <c:v>401</c:v>
                </c:pt>
                <c:pt idx="9">
                  <c:v>401</c:v>
                </c:pt>
                <c:pt idx="10">
                  <c:v>541</c:v>
                </c:pt>
                <c:pt idx="11">
                  <c:v>539</c:v>
                </c:pt>
                <c:pt idx="12">
                  <c:v>634</c:v>
                </c:pt>
                <c:pt idx="13">
                  <c:v>568</c:v>
                </c:pt>
                <c:pt idx="14">
                  <c:v>620</c:v>
                </c:pt>
                <c:pt idx="15">
                  <c:v>637</c:v>
                </c:pt>
                <c:pt idx="16">
                  <c:v>627</c:v>
                </c:pt>
                <c:pt idx="17">
                  <c:v>648</c:v>
                </c:pt>
                <c:pt idx="18">
                  <c:v>627</c:v>
                </c:pt>
                <c:pt idx="19">
                  <c:v>646</c:v>
                </c:pt>
                <c:pt idx="20">
                  <c:v>622</c:v>
                </c:pt>
                <c:pt idx="21">
                  <c:v>585</c:v>
                </c:pt>
                <c:pt idx="22">
                  <c:v>497</c:v>
                </c:pt>
                <c:pt idx="23">
                  <c:v>364</c:v>
                </c:pt>
              </c:numCache>
            </c:numRef>
          </c:val>
          <c:smooth val="0"/>
          <c:extLst>
            <c:ext xmlns:c16="http://schemas.microsoft.com/office/drawing/2014/chart" uri="{C3380CC4-5D6E-409C-BE32-E72D297353CC}">
              <c16:uniqueId val="{00000000-85B2-4D57-AA85-566415E2CEC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7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Sessions</c:v>
                </c:pt>
              </c:strCache>
            </c:strRef>
          </c:tx>
          <c:spPr>
            <a:solidFill>
              <a:srgbClr val="8A7FE0"/>
            </a:solidFill>
            <a:effectLst/>
          </c:spPr>
          <c:invertIfNegative val="0"/>
          <c:dPt>
            <c:idx val="0"/>
            <c:invertIfNegative val="0"/>
            <c:bubble3D val="0"/>
            <c:extLst>
              <c:ext xmlns:c16="http://schemas.microsoft.com/office/drawing/2014/chart" uri="{C3380CC4-5D6E-409C-BE32-E72D297353CC}">
                <c16:uniqueId val="{00000001-FE9F-42C4-A34C-0BAE6B7285B6}"/>
              </c:ext>
            </c:extLst>
          </c:dPt>
          <c:dPt>
            <c:idx val="1"/>
            <c:invertIfNegative val="0"/>
            <c:bubble3D val="0"/>
            <c:extLst>
              <c:ext xmlns:c16="http://schemas.microsoft.com/office/drawing/2014/chart" uri="{C3380CC4-5D6E-409C-BE32-E72D297353CC}">
                <c16:uniqueId val="{00000003-FE9F-42C4-A34C-0BAE6B7285B6}"/>
              </c:ext>
            </c:extLst>
          </c:dPt>
          <c:dPt>
            <c:idx val="2"/>
            <c:invertIfNegative val="0"/>
            <c:bubble3D val="0"/>
            <c:extLst>
              <c:ext xmlns:c16="http://schemas.microsoft.com/office/drawing/2014/chart" uri="{C3380CC4-5D6E-409C-BE32-E72D297353CC}">
                <c16:uniqueId val="{00000005-FE9F-42C4-A34C-0BAE6B7285B6}"/>
              </c:ext>
            </c:extLst>
          </c:dPt>
          <c:dPt>
            <c:idx val="3"/>
            <c:invertIfNegative val="0"/>
            <c:bubble3D val="0"/>
            <c:extLst>
              <c:ext xmlns:c16="http://schemas.microsoft.com/office/drawing/2014/chart" uri="{C3380CC4-5D6E-409C-BE32-E72D297353CC}">
                <c16:uniqueId val="{00000007-FE9F-42C4-A34C-0BAE6B7285B6}"/>
              </c:ext>
            </c:extLst>
          </c:dPt>
          <c:dPt>
            <c:idx val="4"/>
            <c:invertIfNegative val="0"/>
            <c:bubble3D val="0"/>
            <c:extLst>
              <c:ext xmlns:c16="http://schemas.microsoft.com/office/drawing/2014/chart" uri="{C3380CC4-5D6E-409C-BE32-E72D297353CC}">
                <c16:uniqueId val="{00000009-FE9F-42C4-A34C-0BAE6B7285B6}"/>
              </c:ext>
            </c:extLst>
          </c:dPt>
          <c:dPt>
            <c:idx val="5"/>
            <c:invertIfNegative val="0"/>
            <c:bubble3D val="0"/>
            <c:extLst>
              <c:ext xmlns:c16="http://schemas.microsoft.com/office/drawing/2014/chart" uri="{C3380CC4-5D6E-409C-BE32-E72D297353CC}">
                <c16:uniqueId val="{0000000B-FE9F-42C4-A34C-0BAE6B7285B6}"/>
              </c:ext>
            </c:extLst>
          </c:dPt>
          <c:dPt>
            <c:idx val="6"/>
            <c:invertIfNegative val="0"/>
            <c:bubble3D val="0"/>
            <c:spPr>
              <a:solidFill>
                <a:srgbClr val="F5A623"/>
              </a:solidFill>
              <a:effectLst/>
            </c:spPr>
            <c:extLst>
              <c:ext xmlns:c16="http://schemas.microsoft.com/office/drawing/2014/chart" uri="{C3380CC4-5D6E-409C-BE32-E72D297353CC}">
                <c16:uniqueId val="{0000000D-FE9F-42C4-A34C-0BAE6B7285B6}"/>
              </c:ext>
            </c:extLst>
          </c:dPt>
          <c:dPt>
            <c:idx val="7"/>
            <c:invertIfNegative val="0"/>
            <c:bubble3D val="0"/>
            <c:spPr>
              <a:solidFill>
                <a:srgbClr val="2B1E6B"/>
              </a:solidFill>
              <a:effectLst/>
            </c:spPr>
            <c:extLst>
              <c:ext xmlns:c16="http://schemas.microsoft.com/office/drawing/2014/chart" uri="{C3380CC4-5D6E-409C-BE32-E72D297353CC}">
                <c16:uniqueId val="{0000000F-FE9F-42C4-A34C-0BAE6B7285B6}"/>
              </c:ext>
            </c:extLst>
          </c:dPt>
          <c:dLbls>
            <c:numFmt formatCode="#,##0" sourceLinked="0"/>
            <c:spPr>
              <a:noFill/>
              <a:ln>
                <a:noFill/>
              </a:ln>
              <a:effectLst/>
            </c:spPr>
            <c:txPr>
              <a:bodyPr/>
              <a:lstStyle/>
              <a:p>
                <a:pPr>
                  <a:defRPr sz="1050" b="0" i="0" u="none" strike="noStrike">
                    <a:solidFill>
                      <a:srgbClr val="2A2A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Boomerang</c:v>
                </c:pt>
                <c:pt idx="1">
                  <c:v>Cartoon Network</c:v>
                </c:pt>
                <c:pt idx="2">
                  <c:v>Africa Magic</c:v>
                </c:pt>
                <c:pt idx="3">
                  <c:v>SuperSport Blitz</c:v>
                </c:pt>
                <c:pt idx="4">
                  <c:v>Trace TV</c:v>
                </c:pt>
                <c:pt idx="5">
                  <c:v>Channel O</c:v>
                </c:pt>
                <c:pt idx="6">
                  <c:v>ICC Cricket World Cup 2011</c:v>
                </c:pt>
                <c:pt idx="7">
                  <c:v>Supersport Live Events</c:v>
                </c:pt>
              </c:strCache>
            </c:strRef>
          </c:cat>
          <c:val>
            <c:numRef>
              <c:f>Sheet1!$B$2:$B$9</c:f>
              <c:numCache>
                <c:formatCode>General</c:formatCode>
                <c:ptCount val="8"/>
                <c:pt idx="0">
                  <c:v>714</c:v>
                </c:pt>
                <c:pt idx="1">
                  <c:v>793</c:v>
                </c:pt>
                <c:pt idx="2">
                  <c:v>857</c:v>
                </c:pt>
                <c:pt idx="3">
                  <c:v>896</c:v>
                </c:pt>
                <c:pt idx="4">
                  <c:v>952</c:v>
                </c:pt>
                <c:pt idx="5">
                  <c:v>1048</c:v>
                </c:pt>
                <c:pt idx="6">
                  <c:v>1465</c:v>
                </c:pt>
                <c:pt idx="7">
                  <c:v>1637</c:v>
                </c:pt>
              </c:numCache>
            </c:numRef>
          </c:val>
          <c:extLst>
            <c:ext xmlns:c16="http://schemas.microsoft.com/office/drawing/2014/chart" uri="{C3380CC4-5D6E-409C-BE32-E72D297353CC}">
              <c16:uniqueId val="{00000010-FE9F-42C4-A34C-0BAE6B7285B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B6B7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1" i="0" u="none" strike="noStrike">
                <a:solidFill>
                  <a:srgbClr val="2B1E6B"/>
                </a:solidFill>
                <a:latin typeface="Calibri"/>
              </a:defRPr>
            </a:pPr>
            <a:r>
              <a:rPr lang="en-US" sz="1250" b="1" i="0" u="none" strike="noStrike">
                <a:solidFill>
                  <a:srgbClr val="2B1E6B"/>
                </a:solidFill>
                <a:latin typeface="Calibri"/>
              </a:rPr>
              <a:t>Top Channels on Monday (Sessions)</a:t>
            </a:r>
          </a:p>
        </c:rich>
      </c:tx>
      <c:overlay val="0"/>
    </c:title>
    <c:autoTitleDeleted val="0"/>
    <c:plotArea>
      <c:layout/>
      <c:barChart>
        <c:barDir val="bar"/>
        <c:grouping val="clustered"/>
        <c:varyColors val="0"/>
        <c:ser>
          <c:idx val="0"/>
          <c:order val="0"/>
          <c:tx>
            <c:strRef>
              <c:f>Sheet1!$B$1</c:f>
              <c:strCache>
                <c:ptCount val="1"/>
                <c:pt idx="0">
                  <c:v>Monday sessions</c:v>
                </c:pt>
              </c:strCache>
            </c:strRef>
          </c:tx>
          <c:spPr>
            <a:solidFill>
              <a:srgbClr val="F5A623"/>
            </a:solidFill>
            <a:effectLst/>
          </c:spPr>
          <c:invertIfNegative val="0"/>
          <c:dPt>
            <c:idx val="0"/>
            <c:invertIfNegative val="0"/>
            <c:bubble3D val="0"/>
            <c:extLst>
              <c:ext xmlns:c16="http://schemas.microsoft.com/office/drawing/2014/chart" uri="{C3380CC4-5D6E-409C-BE32-E72D297353CC}">
                <c16:uniqueId val="{00000001-96E9-4AE6-9877-E31E48B983F4}"/>
              </c:ext>
            </c:extLst>
          </c:dPt>
          <c:dPt>
            <c:idx val="1"/>
            <c:invertIfNegative val="0"/>
            <c:bubble3D val="0"/>
            <c:extLst>
              <c:ext xmlns:c16="http://schemas.microsoft.com/office/drawing/2014/chart" uri="{C3380CC4-5D6E-409C-BE32-E72D297353CC}">
                <c16:uniqueId val="{00000003-96E9-4AE6-9877-E31E48B983F4}"/>
              </c:ext>
            </c:extLst>
          </c:dPt>
          <c:dPt>
            <c:idx val="2"/>
            <c:invertIfNegative val="0"/>
            <c:bubble3D val="0"/>
            <c:spPr>
              <a:solidFill>
                <a:srgbClr val="8A7FE0"/>
              </a:solidFill>
              <a:effectLst/>
            </c:spPr>
            <c:extLst>
              <c:ext xmlns:c16="http://schemas.microsoft.com/office/drawing/2014/chart" uri="{C3380CC4-5D6E-409C-BE32-E72D297353CC}">
                <c16:uniqueId val="{00000005-96E9-4AE6-9877-E31E48B983F4}"/>
              </c:ext>
            </c:extLst>
          </c:dPt>
          <c:dPt>
            <c:idx val="3"/>
            <c:invertIfNegative val="0"/>
            <c:bubble3D val="0"/>
            <c:spPr>
              <a:solidFill>
                <a:srgbClr val="8A7FE0"/>
              </a:solidFill>
              <a:effectLst/>
            </c:spPr>
            <c:extLst>
              <c:ext xmlns:c16="http://schemas.microsoft.com/office/drawing/2014/chart" uri="{C3380CC4-5D6E-409C-BE32-E72D297353CC}">
                <c16:uniqueId val="{00000007-96E9-4AE6-9877-E31E48B983F4}"/>
              </c:ext>
            </c:extLst>
          </c:dPt>
          <c:dPt>
            <c:idx val="4"/>
            <c:invertIfNegative val="0"/>
            <c:bubble3D val="0"/>
            <c:spPr>
              <a:solidFill>
                <a:srgbClr val="8A7FE0"/>
              </a:solidFill>
              <a:effectLst/>
            </c:spPr>
            <c:extLst>
              <c:ext xmlns:c16="http://schemas.microsoft.com/office/drawing/2014/chart" uri="{C3380CC4-5D6E-409C-BE32-E72D297353CC}">
                <c16:uniqueId val="{00000009-96E9-4AE6-9877-E31E48B983F4}"/>
              </c:ext>
            </c:extLst>
          </c:dPt>
          <c:dPt>
            <c:idx val="5"/>
            <c:invertIfNegative val="0"/>
            <c:bubble3D val="0"/>
            <c:spPr>
              <a:solidFill>
                <a:srgbClr val="8A7FE0"/>
              </a:solidFill>
              <a:effectLst/>
            </c:spPr>
            <c:extLst>
              <c:ext xmlns:c16="http://schemas.microsoft.com/office/drawing/2014/chart" uri="{C3380CC4-5D6E-409C-BE32-E72D297353CC}">
                <c16:uniqueId val="{0000000B-96E9-4AE6-9877-E31E48B983F4}"/>
              </c:ext>
            </c:extLst>
          </c:dPt>
          <c:dLbls>
            <c:numFmt formatCode="#,##0" sourceLinked="0"/>
            <c:spPr>
              <a:noFill/>
              <a:ln>
                <a:noFill/>
              </a:ln>
              <a:effectLst/>
            </c:spPr>
            <c:txPr>
              <a:bodyPr/>
              <a:lstStyle/>
              <a:p>
                <a:pPr>
                  <a:defRPr sz="1050" b="0" i="0" u="none" strike="noStrike">
                    <a:solidFill>
                      <a:srgbClr val="2A2A3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Channel O</c:v>
                </c:pt>
                <c:pt idx="1">
                  <c:v>Trace TV</c:v>
                </c:pt>
                <c:pt idx="2">
                  <c:v>Supersport Live Events</c:v>
                </c:pt>
                <c:pt idx="3">
                  <c:v>Cartoon Network</c:v>
                </c:pt>
                <c:pt idx="4">
                  <c:v>Africa Magic</c:v>
                </c:pt>
                <c:pt idx="5">
                  <c:v>Boomerang</c:v>
                </c:pt>
              </c:strCache>
            </c:strRef>
          </c:cat>
          <c:val>
            <c:numRef>
              <c:f>Sheet1!$B$2:$B$7</c:f>
              <c:numCache>
                <c:formatCode>General</c:formatCode>
                <c:ptCount val="6"/>
                <c:pt idx="0">
                  <c:v>136</c:v>
                </c:pt>
                <c:pt idx="1">
                  <c:v>115</c:v>
                </c:pt>
                <c:pt idx="2">
                  <c:v>98</c:v>
                </c:pt>
                <c:pt idx="3">
                  <c:v>94</c:v>
                </c:pt>
                <c:pt idx="4">
                  <c:v>92</c:v>
                </c:pt>
                <c:pt idx="5">
                  <c:v>84</c:v>
                </c:pt>
              </c:numCache>
            </c:numRef>
          </c:val>
          <c:extLst>
            <c:ext xmlns:c16="http://schemas.microsoft.com/office/drawing/2014/chart" uri="{C3380CC4-5D6E-409C-BE32-E72D297353CC}">
              <c16:uniqueId val="{0000000C-96E9-4AE6-9877-E31E48B983F4}"/>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6B6B7D"/>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2729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CVM team. BrightTV's CEO has set a clear objective this financial year: grow the subscription base. This deck walks through what the user and viewership data actually shows, and turns it into concrete recommendations for this team. Data covers Q1 2016, all times converted to South African time.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brief: the CEO wants subscriber growth, and CVM has been asked to ground that push in data. Three things this analysis needs to deliver: who's watching, what's driving engagement, and where the growth opportunities are. Everything that follows builds toward those three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is structured around four questions set out in the brief: user and usage trends, factors associated with consumption, content for low-consumption days, and growth initiatives. Keep these four in mind — every section maps back to one of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datasets: User Profiles (5,375 records) and Viewership (10,000 raw session records). We removed 5 exact duplicate rows, leaving 9,995 valid sessions. All timestamps were converted from UTC to SA time before any day/hour analysis, as instructed. Note: about 4% of users in the viewership data have no matching demographic profile, so gender/age percentages are based on the 96% who 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to anchor the rest of the talk: 4,386 unique users generated 9,995 sessions, averaging 2.28 sessions per user. Friday is the busiest day, Monday the quietest, and 17:00 SA time is the daily peak. We'll unpack each of these in turn.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BrightTV's audience is heavily male — 84.9% versus 11.1% female, with the remainder unclassified. This is one of the clearest patterns in the data and a direct input into the growth recommendations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25–34 year-olds are the single largest segment at 40.6% of users, and the broader 25–44 band makes up 67.5% of the entire base. This is BrightTV's core demographic and should anchor most content and marketing decisions.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Gauteng is home to the largest observed user base at 1,607 users, well ahead of Western Cape at 770. That said, every province is represented, so there's a real opportunity to grow smaller regional pockets, not just double down on Gauteng.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Friday is the highest-viewing day at 1,673 sessions; Monday is the lowest at 956 — about 43% fewer sessions than Friday. This gap is the starting point for the Monday-specific analysis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Viewing is low overnight, builds through the morning, and stays high from midday through evening, peaking at 17:00 with 648 sessions. This is prime time for BrightTV and the natural window for promoted content and push notifications.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Sport dominates overall consumption — Supersport Live Events leads with 1,637 sessions, and the ICC Cricket World Cup 2011 alone drew 1,465. This confirms live sport and major events are BrightTV's strongest draw across the week as a whole.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Bringing the patterns together: day of week, time of day, content genre, audience profile, and geography all show clear associations with consumption. Important caveat — and I want to be explicit about this — these are observed associations in the data, not proven causes. We haven't run controlled tests, so we can describe patterns but shouldn't claim any one factor causes higher or lower viewing.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into Monday specifically: it's the lowest day overall, and the heatmap shows it's consistently lighter across almost every hour, not just one dip. Two details stand out: Monday's own peak hour is 22:00, three hours later than the weekly peak of 17:00, and the channel mix flips — Channel O and Trace TV outrank Supersport Live Events on Mondays, the reverse of the overall ranking.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music and entertainment channels actually lead on Mondays, the recommendation is to lean into that rather than fight it with more sport programming. Three concrete moves: anchor Monday content around Channel O and Trace TV-style entertainment, schedule promotion for the 20:00–23:00 window since that's when Monday's audience is actually online, and time push notifications to match — not to the 17:00 weekly peak.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initiatives that follow directly from the data: double down on the 25–44 core, run a targeted campaign to close the gender gap, mobilise engaged younger users for referrals, expand regional marketing beyond Gauteng, lead acquisition with major sport and event content, and run a Monday-specific engagement push. Each ties back to a finding we've already covered.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analysis usable day-to-day rather than a one-off deck, we've mocked up a companion interactive dashboard concept, in the spirit of a tool like Lovable. A live version would let the CVM team filter by day, channel, province, and demographic themselves, and refresh the view as new data comes in.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side-by-side: six key findings on the left, six matching recommendations on the right. This slide is designed to be the one people screenshot — it's the whole story in one view.</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happy to take questions. The core message: BrightTV has a large, engaged, but narrow audience today. Growth means widening that base — more women, more provinces beyond Gauteng — while protecting what already works, and specifically fixing the Monday gap with entertainment-led programming.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AF9FE"/>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6.png"/><Relationship Id="rId7"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3.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548"/>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754880" cy="4754880"/>
          </a:xfrm>
          <a:prstGeom prst="ellipse">
            <a:avLst/>
          </a:prstGeom>
          <a:solidFill>
            <a:srgbClr val="2B1E6B"/>
          </a:solidFill>
          <a:ln/>
        </p:spPr>
        <p:txBody>
          <a:bodyPr/>
          <a:lstStyle/>
          <a:p>
            <a:endParaRPr lang="en-ZA"/>
          </a:p>
        </p:txBody>
      </p:sp>
      <p:sp>
        <p:nvSpPr>
          <p:cNvPr id="3" name="Shape 1"/>
          <p:cNvSpPr/>
          <p:nvPr/>
        </p:nvSpPr>
        <p:spPr>
          <a:xfrm>
            <a:off x="10607040" y="4206240"/>
            <a:ext cx="2926080" cy="2926080"/>
          </a:xfrm>
          <a:prstGeom prst="ellipse">
            <a:avLst/>
          </a:prstGeom>
          <a:solidFill>
            <a:srgbClr val="241C56"/>
          </a:solidFill>
          <a:ln/>
        </p:spPr>
        <p:txBody>
          <a:bodyPr/>
          <a:lstStyle/>
          <a:p>
            <a:endParaRPr lang="en-ZA"/>
          </a:p>
        </p:txBody>
      </p:sp>
      <p:sp>
        <p:nvSpPr>
          <p:cNvPr id="4" name="Shape 2"/>
          <p:cNvSpPr/>
          <p:nvPr/>
        </p:nvSpPr>
        <p:spPr>
          <a:xfrm>
            <a:off x="-1097280" y="4572000"/>
            <a:ext cx="3291840" cy="3291840"/>
          </a:xfrm>
          <a:prstGeom prst="ellipse">
            <a:avLst/>
          </a:prstGeom>
          <a:solidFill>
            <a:srgbClr val="241C56"/>
          </a:solidFill>
          <a:ln/>
        </p:spPr>
        <p:txBody>
          <a:bodyPr/>
          <a:lstStyle/>
          <a:p>
            <a:endParaRPr lang="en-ZA"/>
          </a:p>
        </p:txBody>
      </p:sp>
      <p:sp>
        <p:nvSpPr>
          <p:cNvPr id="5" name="Text 3"/>
          <p:cNvSpPr/>
          <p:nvPr/>
        </p:nvSpPr>
        <p:spPr>
          <a:xfrm>
            <a:off x="640080" y="1600200"/>
            <a:ext cx="8229600" cy="365760"/>
          </a:xfrm>
          <a:prstGeom prst="rect">
            <a:avLst/>
          </a:prstGeom>
          <a:noFill/>
          <a:ln/>
        </p:spPr>
        <p:txBody>
          <a:bodyPr wrap="square" rtlCol="0" anchor="ctr"/>
          <a:lstStyle/>
          <a:p>
            <a:pPr marL="0" indent="0">
              <a:buNone/>
            </a:pPr>
            <a:r>
              <a:rPr lang="en-US" sz="1300" b="1" kern="0" spc="260" dirty="0">
                <a:solidFill>
                  <a:srgbClr val="F5A623"/>
                </a:solidFill>
                <a:latin typeface="Calibri" pitchFamily="34" charset="0"/>
                <a:ea typeface="Calibri" pitchFamily="34" charset="-122"/>
                <a:cs typeface="Calibri" pitchFamily="34" charset="-120"/>
              </a:rPr>
              <a:t>CVM DATA ANALYTICS CASE STUDY</a:t>
            </a:r>
            <a:endParaRPr lang="en-US" sz="1300" dirty="0"/>
          </a:p>
        </p:txBody>
      </p:sp>
      <p:sp>
        <p:nvSpPr>
          <p:cNvPr id="6" name="Text 4"/>
          <p:cNvSpPr/>
          <p:nvPr/>
        </p:nvSpPr>
        <p:spPr>
          <a:xfrm>
            <a:off x="594360" y="2011680"/>
            <a:ext cx="9875520" cy="1920240"/>
          </a:xfrm>
          <a:prstGeom prst="rect">
            <a:avLst/>
          </a:prstGeom>
          <a:noFill/>
          <a:ln/>
        </p:spPr>
        <p:txBody>
          <a:bodyPr wrap="square" rtlCol="0" anchor="ctr"/>
          <a:lstStyle/>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BRIGHTTV</a:t>
            </a:r>
            <a:endParaRPr lang="en-US" sz="4600" dirty="0"/>
          </a:p>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VIEWERSHIP ANALYTICS</a:t>
            </a:r>
            <a:endParaRPr lang="en-US" sz="4600" dirty="0"/>
          </a:p>
        </p:txBody>
      </p:sp>
      <p:sp>
        <p:nvSpPr>
          <p:cNvPr id="7" name="Text 5"/>
          <p:cNvSpPr/>
          <p:nvPr/>
        </p:nvSpPr>
        <p:spPr>
          <a:xfrm>
            <a:off x="640080" y="3886200"/>
            <a:ext cx="8686800" cy="457200"/>
          </a:xfrm>
          <a:prstGeom prst="rect">
            <a:avLst/>
          </a:prstGeom>
          <a:noFill/>
          <a:ln/>
        </p:spPr>
        <p:txBody>
          <a:bodyPr wrap="square" rtlCol="0" anchor="ctr"/>
          <a:lstStyle/>
          <a:p>
            <a:pPr marL="0" indent="0">
              <a:buNone/>
            </a:pPr>
            <a:r>
              <a:rPr lang="en-US" sz="1700" i="1" dirty="0">
                <a:solidFill>
                  <a:srgbClr val="CCC4F2"/>
                </a:solidFill>
                <a:latin typeface="Calibri" pitchFamily="34" charset="0"/>
                <a:ea typeface="Calibri" pitchFamily="34" charset="-122"/>
                <a:cs typeface="Calibri" pitchFamily="34" charset="-120"/>
              </a:rPr>
              <a:t>Turning viewing behaviour into subscriber growth</a:t>
            </a:r>
            <a:endParaRPr lang="en-US" sz="1700" dirty="0"/>
          </a:p>
        </p:txBody>
      </p:sp>
      <p:sp>
        <p:nvSpPr>
          <p:cNvPr id="8" name="Shape 6"/>
          <p:cNvSpPr/>
          <p:nvPr/>
        </p:nvSpPr>
        <p:spPr>
          <a:xfrm>
            <a:off x="640080" y="4617720"/>
            <a:ext cx="2926080" cy="0"/>
          </a:xfrm>
          <a:prstGeom prst="line">
            <a:avLst/>
          </a:prstGeom>
          <a:noFill/>
          <a:ln w="15875">
            <a:solidFill>
              <a:srgbClr val="4A3F9A"/>
            </a:solidFill>
            <a:prstDash val="solid"/>
          </a:ln>
        </p:spPr>
        <p:txBody>
          <a:bodyPr/>
          <a:lstStyle/>
          <a:p>
            <a:endParaRPr lang="en-ZA"/>
          </a:p>
        </p:txBody>
      </p:sp>
      <p:sp>
        <p:nvSpPr>
          <p:cNvPr id="9" name="Text 7"/>
          <p:cNvSpPr/>
          <p:nvPr/>
        </p:nvSpPr>
        <p:spPr>
          <a:xfrm>
            <a:off x="640080" y="4800600"/>
            <a:ext cx="8686800" cy="731520"/>
          </a:xfrm>
          <a:prstGeom prst="rect">
            <a:avLst/>
          </a:prstGeom>
          <a:noFill/>
          <a:ln/>
        </p:spPr>
        <p:txBody>
          <a:bodyPr wrap="square" rtlCol="0" anchor="ctr"/>
          <a:lstStyle/>
          <a:p>
            <a:pPr marL="0" indent="0">
              <a:lnSpc>
                <a:spcPts val="2000"/>
              </a:lnSpc>
              <a:buNone/>
            </a:pPr>
            <a:r>
              <a:rPr lang="en-US" sz="1250" b="1" dirty="0">
                <a:solidFill>
                  <a:srgbClr val="9C90D9"/>
                </a:solidFill>
                <a:latin typeface="Calibri" pitchFamily="34" charset="0"/>
                <a:ea typeface="Calibri" pitchFamily="34" charset="-122"/>
                <a:cs typeface="Calibri" pitchFamily="34" charset="-120"/>
              </a:rPr>
              <a:t>Prepared for: </a:t>
            </a:r>
            <a:r>
              <a:rPr lang="en-US" sz="1250" dirty="0">
                <a:solidFill>
                  <a:srgbClr val="FFFFFF"/>
                </a:solidFill>
                <a:latin typeface="Calibri" pitchFamily="34" charset="0"/>
                <a:ea typeface="Calibri" pitchFamily="34" charset="-122"/>
                <a:cs typeface="Calibri" pitchFamily="34" charset="-120"/>
              </a:rPr>
              <a:t>BrightTV Customer Value Management Team
</a:t>
            </a:r>
            <a:r>
              <a:rPr lang="en-US" sz="1250" b="1" dirty="0">
                <a:solidFill>
                  <a:srgbClr val="9C90D9"/>
                </a:solidFill>
                <a:latin typeface="Calibri" pitchFamily="34" charset="0"/>
                <a:ea typeface="Calibri" pitchFamily="34" charset="-122"/>
                <a:cs typeface="Calibri" pitchFamily="34" charset="-120"/>
              </a:rPr>
              <a:t>Data source: </a:t>
            </a:r>
            <a:r>
              <a:rPr lang="en-US" sz="1250" dirty="0">
                <a:solidFill>
                  <a:srgbClr val="FFFFFF"/>
                </a:solidFill>
                <a:latin typeface="Calibri" pitchFamily="34" charset="0"/>
                <a:ea typeface="Calibri" pitchFamily="34" charset="-122"/>
                <a:cs typeface="Calibri" pitchFamily="34" charset="-120"/>
              </a:rPr>
              <a:t>User Profiles &amp; Viewership transactions, Q1 2016 (SA time)</a:t>
            </a:r>
            <a:endParaRPr lang="en-US" sz="1250" dirty="0"/>
          </a:p>
        </p:txBody>
      </p:sp>
      <p:pic>
        <p:nvPicPr>
          <p:cNvPr id="10" name="Image 0" descr="/home/claude/assets/icon_tv_white.png"/>
          <p:cNvPicPr>
            <a:picLocks noChangeAspect="1"/>
          </p:cNvPicPr>
          <p:nvPr/>
        </p:nvPicPr>
        <p:blipFill>
          <a:blip r:embed="rId3"/>
          <a:stretch>
            <a:fillRect/>
          </a:stretch>
        </p:blipFill>
        <p:spPr>
          <a:xfrm>
            <a:off x="10561320" y="502920"/>
            <a:ext cx="502920" cy="502920"/>
          </a:xfrm>
          <a:prstGeom prst="rect">
            <a:avLst/>
          </a:prstGeom>
        </p:spPr>
      </p:pic>
      <p:sp>
        <p:nvSpPr>
          <p:cNvPr id="12" name="Text 8"/>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B8B0E8"/>
                </a:solidFill>
                <a:latin typeface="Calibri" pitchFamily="34" charset="0"/>
                <a:ea typeface="Calibri" pitchFamily="34" charset="-122"/>
                <a:cs typeface="Calibri" pitchFamily="34" charset="-120"/>
              </a:rPr>
              <a:t>BRIGHTTV VIEWERSHIP ANALYTICS</a:t>
            </a:r>
            <a:endParaRPr lang="en-US" sz="850" dirty="0"/>
          </a:p>
        </p:txBody>
      </p:sp>
      <p:sp>
        <p:nvSpPr>
          <p:cNvPr id="13" name="Text 9"/>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B8B0E8"/>
                </a:solidFill>
                <a:latin typeface="Calibri" pitchFamily="34" charset="0"/>
                <a:ea typeface="Calibri" pitchFamily="34" charset="-122"/>
                <a:cs typeface="Calibri" pitchFamily="34" charset="-120"/>
              </a:rPr>
              <a:t>01 / 18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THE BRIEF</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A Subscription Growth Mandate</a:t>
            </a:r>
            <a:endParaRPr lang="en-US" sz="3200" dirty="0"/>
          </a:p>
        </p:txBody>
      </p:sp>
      <p:sp>
        <p:nvSpPr>
          <p:cNvPr id="4" name="Text 2"/>
          <p:cNvSpPr/>
          <p:nvPr/>
        </p:nvSpPr>
        <p:spPr>
          <a:xfrm>
            <a:off x="548640" y="1600200"/>
            <a:ext cx="6035040" cy="2377440"/>
          </a:xfrm>
          <a:prstGeom prst="rect">
            <a:avLst/>
          </a:prstGeom>
          <a:noFill/>
          <a:ln/>
        </p:spPr>
        <p:txBody>
          <a:bodyPr wrap="square" rtlCol="0" anchor="ctr"/>
          <a:lstStyle/>
          <a:p>
            <a:pPr marL="0" indent="0">
              <a:lnSpc>
                <a:spcPts val="2400"/>
              </a:lnSpc>
              <a:buNone/>
            </a:pPr>
            <a:r>
              <a:rPr lang="en-US" sz="1450" dirty="0">
                <a:solidFill>
                  <a:srgbClr val="2A2A3C"/>
                </a:solidFill>
                <a:latin typeface="Calibri" pitchFamily="34" charset="0"/>
                <a:ea typeface="Calibri" pitchFamily="34" charset="-122"/>
                <a:cs typeface="Calibri" pitchFamily="34" charset="-120"/>
              </a:rPr>
              <a:t>BrightTV's CEO has set a clear objective for this financial year: grow the subscription base. To meet that target, the Customer Value Management (CVM) team needs to understand who is watching, when they watch, and what drives engagement — before designing the initiatives that will attract and retain subscribers.</a:t>
            </a:r>
            <a:endParaRPr lang="en-US" sz="1450" dirty="0"/>
          </a:p>
        </p:txBody>
      </p:sp>
      <p:sp>
        <p:nvSpPr>
          <p:cNvPr id="5" name="Shape 3"/>
          <p:cNvSpPr/>
          <p:nvPr/>
        </p:nvSpPr>
        <p:spPr>
          <a:xfrm>
            <a:off x="548640" y="4160520"/>
            <a:ext cx="6035040" cy="777240"/>
          </a:xfrm>
          <a:prstGeom prst="roundRect">
            <a:avLst>
              <a:gd name="adj" fmla="val 9412"/>
            </a:avLst>
          </a:prstGeom>
          <a:solidFill>
            <a:srgbClr val="ECE9FB"/>
          </a:solidFill>
          <a:ln/>
        </p:spPr>
        <p:txBody>
          <a:bodyPr/>
          <a:lstStyle/>
          <a:p>
            <a:endParaRPr lang="en-ZA"/>
          </a:p>
        </p:txBody>
      </p:sp>
      <p:pic>
        <p:nvPicPr>
          <p:cNvPr id="6" name="Image 0" descr="/home/claude/assets/icon_target_indigo.png"/>
          <p:cNvPicPr>
            <a:picLocks noChangeAspect="1"/>
          </p:cNvPicPr>
          <p:nvPr/>
        </p:nvPicPr>
        <p:blipFill>
          <a:blip r:embed="rId3"/>
          <a:stretch>
            <a:fillRect/>
          </a:stretch>
        </p:blipFill>
        <p:spPr>
          <a:xfrm>
            <a:off x="731520" y="4393692"/>
            <a:ext cx="310896" cy="310896"/>
          </a:xfrm>
          <a:prstGeom prst="rect">
            <a:avLst/>
          </a:prstGeom>
        </p:spPr>
      </p:pic>
      <p:sp>
        <p:nvSpPr>
          <p:cNvPr id="7" name="Text 4"/>
          <p:cNvSpPr/>
          <p:nvPr/>
        </p:nvSpPr>
        <p:spPr>
          <a:xfrm>
            <a:off x="1152144" y="4160520"/>
            <a:ext cx="5212080" cy="777240"/>
          </a:xfrm>
          <a:prstGeom prst="rect">
            <a:avLst/>
          </a:prstGeom>
          <a:noFill/>
          <a:ln/>
        </p:spPr>
        <p:txBody>
          <a:bodyPr wrap="square" rtlCol="0" anchor="ctr"/>
          <a:lstStyle/>
          <a:p>
            <a:pPr marL="0" indent="0">
              <a:buNone/>
            </a:pPr>
            <a:r>
              <a:rPr lang="en-US" sz="1300" dirty="0">
                <a:solidFill>
                  <a:srgbClr val="2A2A3C"/>
                </a:solidFill>
                <a:latin typeface="Calibri" pitchFamily="34" charset="0"/>
                <a:ea typeface="Calibri" pitchFamily="34" charset="-122"/>
                <a:cs typeface="Calibri" pitchFamily="34" charset="-120"/>
              </a:rPr>
              <a:t>This analysis translates raw user and session data into evidence the CVM team can act on.</a:t>
            </a:r>
            <a:endParaRPr lang="en-US" sz="1300" dirty="0"/>
          </a:p>
        </p:txBody>
      </p:sp>
      <p:sp>
        <p:nvSpPr>
          <p:cNvPr id="8" name="Shape 5"/>
          <p:cNvSpPr/>
          <p:nvPr/>
        </p:nvSpPr>
        <p:spPr>
          <a:xfrm>
            <a:off x="6903720" y="1600200"/>
            <a:ext cx="4754880" cy="1371600"/>
          </a:xfrm>
          <a:prstGeom prst="roundRect">
            <a:avLst>
              <a:gd name="adj" fmla="val 6000"/>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9" name="Shape 6"/>
          <p:cNvSpPr/>
          <p:nvPr/>
        </p:nvSpPr>
        <p:spPr>
          <a:xfrm>
            <a:off x="7178040" y="1920240"/>
            <a:ext cx="502920" cy="502920"/>
          </a:xfrm>
          <a:prstGeom prst="ellipse">
            <a:avLst/>
          </a:prstGeom>
          <a:solidFill>
            <a:srgbClr val="2B1E6B"/>
          </a:solidFill>
          <a:ln/>
        </p:spPr>
        <p:txBody>
          <a:bodyPr/>
          <a:lstStyle/>
          <a:p>
            <a:endParaRPr lang="en-ZA"/>
          </a:p>
        </p:txBody>
      </p:sp>
      <p:pic>
        <p:nvPicPr>
          <p:cNvPr id="10" name="Image 1" descr="/home/claude/assets/icon_userplus_white.png"/>
          <p:cNvPicPr>
            <a:picLocks noChangeAspect="1"/>
          </p:cNvPicPr>
          <p:nvPr/>
        </p:nvPicPr>
        <p:blipFill>
          <a:blip r:embed="rId4"/>
          <a:stretch>
            <a:fillRect/>
          </a:stretch>
        </p:blipFill>
        <p:spPr>
          <a:xfrm>
            <a:off x="7243420" y="1985620"/>
            <a:ext cx="372161" cy="372161"/>
          </a:xfrm>
          <a:prstGeom prst="rect">
            <a:avLst/>
          </a:prstGeom>
        </p:spPr>
      </p:pic>
      <p:sp>
        <p:nvSpPr>
          <p:cNvPr id="11" name="Text 7"/>
          <p:cNvSpPr/>
          <p:nvPr/>
        </p:nvSpPr>
        <p:spPr>
          <a:xfrm>
            <a:off x="7863840" y="1783080"/>
            <a:ext cx="3566160" cy="365760"/>
          </a:xfrm>
          <a:prstGeom prst="rect">
            <a:avLst/>
          </a:prstGeom>
          <a:noFill/>
          <a:ln/>
        </p:spPr>
        <p:txBody>
          <a:bodyPr wrap="square" rtlCol="0" anchor="ctr"/>
          <a:lstStyle/>
          <a:p>
            <a:pPr marL="0" indent="0">
              <a:buNone/>
            </a:pPr>
            <a:r>
              <a:rPr lang="en-US" sz="1400" b="1" dirty="0">
                <a:solidFill>
                  <a:srgbClr val="2B1E6B"/>
                </a:solidFill>
                <a:latin typeface="Calibri" pitchFamily="34" charset="0"/>
                <a:ea typeface="Calibri" pitchFamily="34" charset="-122"/>
                <a:cs typeface="Calibri" pitchFamily="34" charset="-120"/>
              </a:rPr>
              <a:t>Grow Subscribers</a:t>
            </a:r>
            <a:endParaRPr lang="en-US" sz="1400" dirty="0"/>
          </a:p>
        </p:txBody>
      </p:sp>
      <p:sp>
        <p:nvSpPr>
          <p:cNvPr id="12" name="Text 8"/>
          <p:cNvSpPr/>
          <p:nvPr/>
        </p:nvSpPr>
        <p:spPr>
          <a:xfrm>
            <a:off x="7863840" y="2130552"/>
            <a:ext cx="3611880" cy="685800"/>
          </a:xfrm>
          <a:prstGeom prst="rect">
            <a:avLst/>
          </a:prstGeom>
          <a:noFill/>
          <a:ln/>
        </p:spPr>
        <p:txBody>
          <a:bodyPr wrap="square" rtlCol="0" anchor="ctr"/>
          <a:lstStyle/>
          <a:p>
            <a:pPr marL="0" indent="0">
              <a:lnSpc>
                <a:spcPts val="1400"/>
              </a:lnSpc>
              <a:buNone/>
            </a:pPr>
            <a:r>
              <a:rPr lang="en-US" sz="1080" dirty="0">
                <a:solidFill>
                  <a:srgbClr val="6B6B7D"/>
                </a:solidFill>
                <a:latin typeface="Calibri" pitchFamily="34" charset="0"/>
                <a:ea typeface="Calibri" pitchFamily="34" charset="-122"/>
                <a:cs typeface="Calibri" pitchFamily="34" charset="-120"/>
              </a:rPr>
              <a:t>Expand BrightTV's active subscriber base this financial year</a:t>
            </a:r>
            <a:endParaRPr lang="en-US" sz="1080" dirty="0"/>
          </a:p>
        </p:txBody>
      </p:sp>
      <p:sp>
        <p:nvSpPr>
          <p:cNvPr id="13" name="Shape 9"/>
          <p:cNvSpPr/>
          <p:nvPr/>
        </p:nvSpPr>
        <p:spPr>
          <a:xfrm>
            <a:off x="6903720" y="3172968"/>
            <a:ext cx="4754880" cy="1371600"/>
          </a:xfrm>
          <a:prstGeom prst="roundRect">
            <a:avLst>
              <a:gd name="adj" fmla="val 6000"/>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4" name="Shape 10"/>
          <p:cNvSpPr/>
          <p:nvPr/>
        </p:nvSpPr>
        <p:spPr>
          <a:xfrm>
            <a:off x="7178040" y="3493008"/>
            <a:ext cx="502920" cy="502920"/>
          </a:xfrm>
          <a:prstGeom prst="ellipse">
            <a:avLst/>
          </a:prstGeom>
          <a:solidFill>
            <a:srgbClr val="2B1E6B"/>
          </a:solidFill>
          <a:ln/>
        </p:spPr>
        <p:txBody>
          <a:bodyPr/>
          <a:lstStyle/>
          <a:p>
            <a:endParaRPr lang="en-ZA"/>
          </a:p>
        </p:txBody>
      </p:sp>
      <p:pic>
        <p:nvPicPr>
          <p:cNvPr id="15" name="Image 2" descr="/home/claude/assets/icon_zap_white.png"/>
          <p:cNvPicPr>
            <a:picLocks noChangeAspect="1"/>
          </p:cNvPicPr>
          <p:nvPr/>
        </p:nvPicPr>
        <p:blipFill>
          <a:blip r:embed="rId5"/>
          <a:stretch>
            <a:fillRect/>
          </a:stretch>
        </p:blipFill>
        <p:spPr>
          <a:xfrm>
            <a:off x="7243420" y="3558388"/>
            <a:ext cx="372161" cy="372161"/>
          </a:xfrm>
          <a:prstGeom prst="rect">
            <a:avLst/>
          </a:prstGeom>
        </p:spPr>
      </p:pic>
      <p:sp>
        <p:nvSpPr>
          <p:cNvPr id="16" name="Text 11"/>
          <p:cNvSpPr/>
          <p:nvPr/>
        </p:nvSpPr>
        <p:spPr>
          <a:xfrm>
            <a:off x="7863840" y="3355848"/>
            <a:ext cx="3566160" cy="365760"/>
          </a:xfrm>
          <a:prstGeom prst="rect">
            <a:avLst/>
          </a:prstGeom>
          <a:noFill/>
          <a:ln/>
        </p:spPr>
        <p:txBody>
          <a:bodyPr wrap="square" rtlCol="0" anchor="ctr"/>
          <a:lstStyle/>
          <a:p>
            <a:pPr marL="0" indent="0">
              <a:buNone/>
            </a:pPr>
            <a:r>
              <a:rPr lang="en-US" sz="1400" b="1" dirty="0">
                <a:solidFill>
                  <a:srgbClr val="2B1E6B"/>
                </a:solidFill>
                <a:latin typeface="Calibri" pitchFamily="34" charset="0"/>
                <a:ea typeface="Calibri" pitchFamily="34" charset="-122"/>
                <a:cs typeface="Calibri" pitchFamily="34" charset="-120"/>
              </a:rPr>
              <a:t>Increase Engagement</a:t>
            </a:r>
            <a:endParaRPr lang="en-US" sz="1400" dirty="0"/>
          </a:p>
        </p:txBody>
      </p:sp>
      <p:sp>
        <p:nvSpPr>
          <p:cNvPr id="17" name="Text 12"/>
          <p:cNvSpPr/>
          <p:nvPr/>
        </p:nvSpPr>
        <p:spPr>
          <a:xfrm>
            <a:off x="7863840" y="3703320"/>
            <a:ext cx="3611880" cy="685800"/>
          </a:xfrm>
          <a:prstGeom prst="rect">
            <a:avLst/>
          </a:prstGeom>
          <a:noFill/>
          <a:ln/>
        </p:spPr>
        <p:txBody>
          <a:bodyPr wrap="square" rtlCol="0" anchor="ctr"/>
          <a:lstStyle/>
          <a:p>
            <a:pPr marL="0" indent="0">
              <a:lnSpc>
                <a:spcPts val="1400"/>
              </a:lnSpc>
              <a:buNone/>
            </a:pPr>
            <a:r>
              <a:rPr lang="en-US" sz="1080" dirty="0">
                <a:solidFill>
                  <a:srgbClr val="6B6B7D"/>
                </a:solidFill>
                <a:latin typeface="Calibri" pitchFamily="34" charset="0"/>
                <a:ea typeface="Calibri" pitchFamily="34" charset="-122"/>
                <a:cs typeface="Calibri" pitchFamily="34" charset="-120"/>
              </a:rPr>
              <a:t>Lift session frequency and viewing on the weakest days</a:t>
            </a:r>
            <a:endParaRPr lang="en-US" sz="1080" dirty="0"/>
          </a:p>
        </p:txBody>
      </p:sp>
      <p:sp>
        <p:nvSpPr>
          <p:cNvPr id="18" name="Shape 13"/>
          <p:cNvSpPr/>
          <p:nvPr/>
        </p:nvSpPr>
        <p:spPr>
          <a:xfrm>
            <a:off x="6903720" y="4745736"/>
            <a:ext cx="4754880" cy="1371600"/>
          </a:xfrm>
          <a:prstGeom prst="roundRect">
            <a:avLst>
              <a:gd name="adj" fmla="val 6000"/>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9" name="Shape 14"/>
          <p:cNvSpPr/>
          <p:nvPr/>
        </p:nvSpPr>
        <p:spPr>
          <a:xfrm>
            <a:off x="7178040" y="5065776"/>
            <a:ext cx="502920" cy="502920"/>
          </a:xfrm>
          <a:prstGeom prst="ellipse">
            <a:avLst/>
          </a:prstGeom>
          <a:solidFill>
            <a:srgbClr val="2B1E6B"/>
          </a:solidFill>
          <a:ln/>
        </p:spPr>
        <p:txBody>
          <a:bodyPr/>
          <a:lstStyle/>
          <a:p>
            <a:endParaRPr lang="en-ZA"/>
          </a:p>
        </p:txBody>
      </p:sp>
      <p:pic>
        <p:nvPicPr>
          <p:cNvPr id="20" name="Image 3" descr="/home/claude/assets/icon_compass_white.png"/>
          <p:cNvPicPr>
            <a:picLocks noChangeAspect="1"/>
          </p:cNvPicPr>
          <p:nvPr/>
        </p:nvPicPr>
        <p:blipFill>
          <a:blip r:embed="rId6"/>
          <a:stretch>
            <a:fillRect/>
          </a:stretch>
        </p:blipFill>
        <p:spPr>
          <a:xfrm>
            <a:off x="7243420" y="5131156"/>
            <a:ext cx="372161" cy="372161"/>
          </a:xfrm>
          <a:prstGeom prst="rect">
            <a:avLst/>
          </a:prstGeom>
        </p:spPr>
      </p:pic>
      <p:sp>
        <p:nvSpPr>
          <p:cNvPr id="21" name="Text 15"/>
          <p:cNvSpPr/>
          <p:nvPr/>
        </p:nvSpPr>
        <p:spPr>
          <a:xfrm>
            <a:off x="7863840" y="4928616"/>
            <a:ext cx="3566160" cy="365760"/>
          </a:xfrm>
          <a:prstGeom prst="rect">
            <a:avLst/>
          </a:prstGeom>
          <a:noFill/>
          <a:ln/>
        </p:spPr>
        <p:txBody>
          <a:bodyPr wrap="square" rtlCol="0" anchor="ctr"/>
          <a:lstStyle/>
          <a:p>
            <a:pPr marL="0" indent="0">
              <a:buNone/>
            </a:pPr>
            <a:r>
              <a:rPr lang="en-US" sz="1400" b="1" dirty="0">
                <a:solidFill>
                  <a:srgbClr val="2B1E6B"/>
                </a:solidFill>
                <a:latin typeface="Calibri" pitchFamily="34" charset="0"/>
                <a:ea typeface="Calibri" pitchFamily="34" charset="-122"/>
                <a:cs typeface="Calibri" pitchFamily="34" charset="-120"/>
              </a:rPr>
              <a:t>Data-Led Decisions</a:t>
            </a:r>
            <a:endParaRPr lang="en-US" sz="1400" dirty="0"/>
          </a:p>
        </p:txBody>
      </p:sp>
      <p:sp>
        <p:nvSpPr>
          <p:cNvPr id="22" name="Text 16"/>
          <p:cNvSpPr/>
          <p:nvPr/>
        </p:nvSpPr>
        <p:spPr>
          <a:xfrm>
            <a:off x="7863840" y="5276088"/>
            <a:ext cx="3611880" cy="685800"/>
          </a:xfrm>
          <a:prstGeom prst="rect">
            <a:avLst/>
          </a:prstGeom>
          <a:noFill/>
          <a:ln/>
        </p:spPr>
        <p:txBody>
          <a:bodyPr wrap="square" rtlCol="0" anchor="ctr"/>
          <a:lstStyle/>
          <a:p>
            <a:pPr marL="0" indent="0">
              <a:lnSpc>
                <a:spcPts val="1400"/>
              </a:lnSpc>
              <a:buNone/>
            </a:pPr>
            <a:r>
              <a:rPr lang="en-US" sz="1080" dirty="0">
                <a:solidFill>
                  <a:srgbClr val="6B6B7D"/>
                </a:solidFill>
                <a:latin typeface="Calibri" pitchFamily="34" charset="0"/>
                <a:ea typeface="Calibri" pitchFamily="34" charset="-122"/>
                <a:cs typeface="Calibri" pitchFamily="34" charset="-120"/>
              </a:rPr>
              <a:t>Give CVM a factual foundation for content &amp; campaign choices</a:t>
            </a:r>
            <a:endParaRPr lang="en-US" sz="1080" dirty="0"/>
          </a:p>
        </p:txBody>
      </p:sp>
      <p:sp>
        <p:nvSpPr>
          <p:cNvPr id="24" name="Text 17"/>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25" name="Text 18"/>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WHAT THIS ANALYSIS ANSWERS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Four Questions Guiding This Work</a:t>
            </a:r>
            <a:endParaRPr lang="en-US" sz="3200" dirty="0"/>
          </a:p>
        </p:txBody>
      </p:sp>
      <p:sp>
        <p:nvSpPr>
          <p:cNvPr id="4" name="Shape 2"/>
          <p:cNvSpPr/>
          <p:nvPr/>
        </p:nvSpPr>
        <p:spPr>
          <a:xfrm>
            <a:off x="548640" y="1691640"/>
            <a:ext cx="5349240" cy="1965960"/>
          </a:xfrm>
          <a:prstGeom prst="roundRect">
            <a:avLst>
              <a:gd name="adj" fmla="val 4651"/>
            </a:avLst>
          </a:prstGeom>
          <a:solidFill>
            <a:srgbClr val="FFFFFF"/>
          </a:solidFill>
          <a:ln/>
          <a:effectLst>
            <a:outerShdw blurRad="114300" dist="38100" dir="5400000" algn="bl" rotWithShape="0">
              <a:srgbClr val="5B4FA8">
                <a:alpha val="15000"/>
              </a:srgbClr>
            </a:outerShdw>
          </a:effectLst>
        </p:spPr>
        <p:txBody>
          <a:bodyPr/>
          <a:lstStyle/>
          <a:p>
            <a:endParaRPr lang="en-ZA"/>
          </a:p>
        </p:txBody>
      </p:sp>
      <p:sp>
        <p:nvSpPr>
          <p:cNvPr id="5" name="Text 3"/>
          <p:cNvSpPr/>
          <p:nvPr/>
        </p:nvSpPr>
        <p:spPr>
          <a:xfrm>
            <a:off x="822960" y="1874520"/>
            <a:ext cx="1280160" cy="822960"/>
          </a:xfrm>
          <a:prstGeom prst="rect">
            <a:avLst/>
          </a:prstGeom>
          <a:noFill/>
          <a:ln/>
        </p:spPr>
        <p:txBody>
          <a:bodyPr wrap="square" rtlCol="0" anchor="ctr"/>
          <a:lstStyle/>
          <a:p>
            <a:pPr marL="0" indent="0">
              <a:buNone/>
            </a:pPr>
            <a:r>
              <a:rPr lang="en-US" sz="4000" b="1" dirty="0">
                <a:solidFill>
                  <a:srgbClr val="ECE9FB"/>
                </a:solidFill>
                <a:latin typeface="Cambria" pitchFamily="34" charset="0"/>
                <a:ea typeface="Cambria" pitchFamily="34" charset="-122"/>
                <a:cs typeface="Cambria" pitchFamily="34" charset="-120"/>
              </a:rPr>
              <a:t>01</a:t>
            </a:r>
            <a:endParaRPr lang="en-US" sz="4000" dirty="0"/>
          </a:p>
        </p:txBody>
      </p:sp>
      <p:sp>
        <p:nvSpPr>
          <p:cNvPr id="6" name="Shape 4"/>
          <p:cNvSpPr/>
          <p:nvPr/>
        </p:nvSpPr>
        <p:spPr>
          <a:xfrm>
            <a:off x="5120640" y="1947672"/>
            <a:ext cx="457200" cy="457200"/>
          </a:xfrm>
          <a:prstGeom prst="ellipse">
            <a:avLst/>
          </a:prstGeom>
          <a:solidFill>
            <a:srgbClr val="2B1E6B"/>
          </a:solidFill>
          <a:ln/>
        </p:spPr>
        <p:txBody>
          <a:bodyPr/>
          <a:lstStyle/>
          <a:p>
            <a:endParaRPr lang="en-ZA"/>
          </a:p>
        </p:txBody>
      </p:sp>
      <p:pic>
        <p:nvPicPr>
          <p:cNvPr id="7" name="Image 0" descr="/home/claude/assets/icon_eye_white.png"/>
          <p:cNvPicPr>
            <a:picLocks noChangeAspect="1"/>
          </p:cNvPicPr>
          <p:nvPr/>
        </p:nvPicPr>
        <p:blipFill>
          <a:blip r:embed="rId3"/>
          <a:stretch>
            <a:fillRect/>
          </a:stretch>
        </p:blipFill>
        <p:spPr>
          <a:xfrm>
            <a:off x="5180076" y="2007108"/>
            <a:ext cx="338328" cy="338328"/>
          </a:xfrm>
          <a:prstGeom prst="rect">
            <a:avLst/>
          </a:prstGeom>
        </p:spPr>
      </p:pic>
      <p:sp>
        <p:nvSpPr>
          <p:cNvPr id="8" name="Text 5"/>
          <p:cNvSpPr/>
          <p:nvPr/>
        </p:nvSpPr>
        <p:spPr>
          <a:xfrm>
            <a:off x="868680" y="2606040"/>
            <a:ext cx="4709160" cy="914400"/>
          </a:xfrm>
          <a:prstGeom prst="rect">
            <a:avLst/>
          </a:prstGeom>
          <a:noFill/>
          <a:ln/>
        </p:spPr>
        <p:txBody>
          <a:bodyPr wrap="square" rtlCol="0" anchor="ctr"/>
          <a:lstStyle/>
          <a:p>
            <a:pPr marL="0" indent="0">
              <a:lnSpc>
                <a:spcPts val="1900"/>
              </a:lnSpc>
              <a:buNone/>
            </a:pPr>
            <a:r>
              <a:rPr lang="en-US" sz="1500" b="1" dirty="0">
                <a:solidFill>
                  <a:srgbClr val="2A2A3C"/>
                </a:solidFill>
                <a:latin typeface="Calibri" pitchFamily="34" charset="0"/>
                <a:ea typeface="Calibri" pitchFamily="34" charset="-122"/>
                <a:cs typeface="Calibri" pitchFamily="34" charset="-120"/>
              </a:rPr>
              <a:t>What are the main user and usage trends of BrightTV?</a:t>
            </a:r>
            <a:endParaRPr lang="en-US" sz="1500" dirty="0"/>
          </a:p>
        </p:txBody>
      </p:sp>
      <p:sp>
        <p:nvSpPr>
          <p:cNvPr id="9" name="Shape 6"/>
          <p:cNvSpPr/>
          <p:nvPr/>
        </p:nvSpPr>
        <p:spPr>
          <a:xfrm>
            <a:off x="6172200" y="1691640"/>
            <a:ext cx="5349240" cy="1965960"/>
          </a:xfrm>
          <a:prstGeom prst="roundRect">
            <a:avLst>
              <a:gd name="adj" fmla="val 4651"/>
            </a:avLst>
          </a:prstGeom>
          <a:solidFill>
            <a:srgbClr val="FFFFFF"/>
          </a:solidFill>
          <a:ln/>
          <a:effectLst>
            <a:outerShdw blurRad="114300" dist="38100" dir="5400000" algn="bl" rotWithShape="0">
              <a:srgbClr val="5B4FA8">
                <a:alpha val="15000"/>
              </a:srgbClr>
            </a:outerShdw>
          </a:effectLst>
        </p:spPr>
        <p:txBody>
          <a:bodyPr/>
          <a:lstStyle/>
          <a:p>
            <a:endParaRPr lang="en-ZA"/>
          </a:p>
        </p:txBody>
      </p:sp>
      <p:sp>
        <p:nvSpPr>
          <p:cNvPr id="10" name="Text 7"/>
          <p:cNvSpPr/>
          <p:nvPr/>
        </p:nvSpPr>
        <p:spPr>
          <a:xfrm>
            <a:off x="6446520" y="1874520"/>
            <a:ext cx="1280160" cy="822960"/>
          </a:xfrm>
          <a:prstGeom prst="rect">
            <a:avLst/>
          </a:prstGeom>
          <a:noFill/>
          <a:ln/>
        </p:spPr>
        <p:txBody>
          <a:bodyPr wrap="square" rtlCol="0" anchor="ctr"/>
          <a:lstStyle/>
          <a:p>
            <a:pPr marL="0" indent="0">
              <a:buNone/>
            </a:pPr>
            <a:r>
              <a:rPr lang="en-US" sz="4000" b="1" dirty="0">
                <a:solidFill>
                  <a:srgbClr val="ECE9FB"/>
                </a:solidFill>
                <a:latin typeface="Cambria" pitchFamily="34" charset="0"/>
                <a:ea typeface="Cambria" pitchFamily="34" charset="-122"/>
                <a:cs typeface="Cambria" pitchFamily="34" charset="-120"/>
              </a:rPr>
              <a:t>02</a:t>
            </a:r>
            <a:endParaRPr lang="en-US" sz="4000" dirty="0"/>
          </a:p>
        </p:txBody>
      </p:sp>
      <p:sp>
        <p:nvSpPr>
          <p:cNvPr id="11" name="Shape 8"/>
          <p:cNvSpPr/>
          <p:nvPr/>
        </p:nvSpPr>
        <p:spPr>
          <a:xfrm>
            <a:off x="10744200" y="1947672"/>
            <a:ext cx="457200" cy="457200"/>
          </a:xfrm>
          <a:prstGeom prst="ellipse">
            <a:avLst/>
          </a:prstGeom>
          <a:solidFill>
            <a:srgbClr val="2B1E6B"/>
          </a:solidFill>
          <a:ln/>
        </p:spPr>
        <p:txBody>
          <a:bodyPr/>
          <a:lstStyle/>
          <a:p>
            <a:endParaRPr lang="en-ZA"/>
          </a:p>
        </p:txBody>
      </p:sp>
      <p:pic>
        <p:nvPicPr>
          <p:cNvPr id="12" name="Image 1" descr="/home/claude/assets/icon_zap_white.png"/>
          <p:cNvPicPr>
            <a:picLocks noChangeAspect="1"/>
          </p:cNvPicPr>
          <p:nvPr/>
        </p:nvPicPr>
        <p:blipFill>
          <a:blip r:embed="rId4"/>
          <a:stretch>
            <a:fillRect/>
          </a:stretch>
        </p:blipFill>
        <p:spPr>
          <a:xfrm>
            <a:off x="10803636" y="2007108"/>
            <a:ext cx="338328" cy="338328"/>
          </a:xfrm>
          <a:prstGeom prst="rect">
            <a:avLst/>
          </a:prstGeom>
        </p:spPr>
      </p:pic>
      <p:sp>
        <p:nvSpPr>
          <p:cNvPr id="13" name="Text 9"/>
          <p:cNvSpPr/>
          <p:nvPr/>
        </p:nvSpPr>
        <p:spPr>
          <a:xfrm>
            <a:off x="6492240" y="2606040"/>
            <a:ext cx="4709160" cy="914400"/>
          </a:xfrm>
          <a:prstGeom prst="rect">
            <a:avLst/>
          </a:prstGeom>
          <a:noFill/>
          <a:ln/>
        </p:spPr>
        <p:txBody>
          <a:bodyPr wrap="square" rtlCol="0" anchor="ctr"/>
          <a:lstStyle/>
          <a:p>
            <a:pPr marL="0" indent="0">
              <a:lnSpc>
                <a:spcPts val="1900"/>
              </a:lnSpc>
              <a:buNone/>
            </a:pPr>
            <a:r>
              <a:rPr lang="en-US" sz="1500" b="1" dirty="0">
                <a:solidFill>
                  <a:srgbClr val="2A2A3C"/>
                </a:solidFill>
                <a:latin typeface="Calibri" pitchFamily="34" charset="0"/>
                <a:ea typeface="Calibri" pitchFamily="34" charset="-122"/>
                <a:cs typeface="Calibri" pitchFamily="34" charset="-120"/>
              </a:rPr>
              <a:t>What factors are associated with consumption?</a:t>
            </a:r>
            <a:endParaRPr lang="en-US" sz="1500" dirty="0"/>
          </a:p>
        </p:txBody>
      </p:sp>
      <p:sp>
        <p:nvSpPr>
          <p:cNvPr id="14" name="Shape 10"/>
          <p:cNvSpPr/>
          <p:nvPr/>
        </p:nvSpPr>
        <p:spPr>
          <a:xfrm>
            <a:off x="548640" y="3931920"/>
            <a:ext cx="5349240" cy="1965960"/>
          </a:xfrm>
          <a:prstGeom prst="roundRect">
            <a:avLst>
              <a:gd name="adj" fmla="val 4651"/>
            </a:avLst>
          </a:prstGeom>
          <a:solidFill>
            <a:srgbClr val="FFFFFF"/>
          </a:solidFill>
          <a:ln/>
          <a:effectLst>
            <a:outerShdw blurRad="114300" dist="38100" dir="5400000" algn="bl" rotWithShape="0">
              <a:srgbClr val="5B4FA8">
                <a:alpha val="15000"/>
              </a:srgbClr>
            </a:outerShdw>
          </a:effectLst>
        </p:spPr>
        <p:txBody>
          <a:bodyPr/>
          <a:lstStyle/>
          <a:p>
            <a:endParaRPr lang="en-ZA"/>
          </a:p>
        </p:txBody>
      </p:sp>
      <p:sp>
        <p:nvSpPr>
          <p:cNvPr id="15" name="Text 11"/>
          <p:cNvSpPr/>
          <p:nvPr/>
        </p:nvSpPr>
        <p:spPr>
          <a:xfrm>
            <a:off x="822960" y="4114800"/>
            <a:ext cx="1280160" cy="822960"/>
          </a:xfrm>
          <a:prstGeom prst="rect">
            <a:avLst/>
          </a:prstGeom>
          <a:noFill/>
          <a:ln/>
        </p:spPr>
        <p:txBody>
          <a:bodyPr wrap="square" rtlCol="0" anchor="ctr"/>
          <a:lstStyle/>
          <a:p>
            <a:pPr marL="0" indent="0">
              <a:buNone/>
            </a:pPr>
            <a:r>
              <a:rPr lang="en-US" sz="4000" b="1" dirty="0">
                <a:solidFill>
                  <a:srgbClr val="ECE9FB"/>
                </a:solidFill>
                <a:latin typeface="Cambria" pitchFamily="34" charset="0"/>
                <a:ea typeface="Cambria" pitchFamily="34" charset="-122"/>
                <a:cs typeface="Cambria" pitchFamily="34" charset="-120"/>
              </a:rPr>
              <a:t>03</a:t>
            </a:r>
            <a:endParaRPr lang="en-US" sz="4000" dirty="0"/>
          </a:p>
        </p:txBody>
      </p:sp>
      <p:sp>
        <p:nvSpPr>
          <p:cNvPr id="16" name="Shape 12"/>
          <p:cNvSpPr/>
          <p:nvPr/>
        </p:nvSpPr>
        <p:spPr>
          <a:xfrm>
            <a:off x="5120640" y="4187952"/>
            <a:ext cx="457200" cy="457200"/>
          </a:xfrm>
          <a:prstGeom prst="ellipse">
            <a:avLst/>
          </a:prstGeom>
          <a:solidFill>
            <a:srgbClr val="2B1E6B"/>
          </a:solidFill>
          <a:ln/>
        </p:spPr>
        <p:txBody>
          <a:bodyPr/>
          <a:lstStyle/>
          <a:p>
            <a:endParaRPr lang="en-ZA"/>
          </a:p>
        </p:txBody>
      </p:sp>
      <p:pic>
        <p:nvPicPr>
          <p:cNvPr id="17" name="Image 2" descr="/home/claude/assets/icon_film_white.png"/>
          <p:cNvPicPr>
            <a:picLocks noChangeAspect="1"/>
          </p:cNvPicPr>
          <p:nvPr/>
        </p:nvPicPr>
        <p:blipFill>
          <a:blip r:embed="rId5"/>
          <a:stretch>
            <a:fillRect/>
          </a:stretch>
        </p:blipFill>
        <p:spPr>
          <a:xfrm>
            <a:off x="5180076" y="4247388"/>
            <a:ext cx="338328" cy="338328"/>
          </a:xfrm>
          <a:prstGeom prst="rect">
            <a:avLst/>
          </a:prstGeom>
        </p:spPr>
      </p:pic>
      <p:sp>
        <p:nvSpPr>
          <p:cNvPr id="18" name="Text 13"/>
          <p:cNvSpPr/>
          <p:nvPr/>
        </p:nvSpPr>
        <p:spPr>
          <a:xfrm>
            <a:off x="868680" y="4846320"/>
            <a:ext cx="4709160" cy="914400"/>
          </a:xfrm>
          <a:prstGeom prst="rect">
            <a:avLst/>
          </a:prstGeom>
          <a:noFill/>
          <a:ln/>
        </p:spPr>
        <p:txBody>
          <a:bodyPr wrap="square" rtlCol="0" anchor="ctr"/>
          <a:lstStyle/>
          <a:p>
            <a:pPr marL="0" indent="0">
              <a:lnSpc>
                <a:spcPts val="1900"/>
              </a:lnSpc>
              <a:buNone/>
            </a:pPr>
            <a:r>
              <a:rPr lang="en-US" sz="1500" b="1" dirty="0">
                <a:solidFill>
                  <a:srgbClr val="2A2A3C"/>
                </a:solidFill>
                <a:latin typeface="Calibri" pitchFamily="34" charset="0"/>
                <a:ea typeface="Calibri" pitchFamily="34" charset="-122"/>
                <a:cs typeface="Calibri" pitchFamily="34" charset="-120"/>
              </a:rPr>
              <a:t>What content should be recommended to lift low-consumption days?</a:t>
            </a:r>
            <a:endParaRPr lang="en-US" sz="1500" dirty="0"/>
          </a:p>
        </p:txBody>
      </p:sp>
      <p:sp>
        <p:nvSpPr>
          <p:cNvPr id="19" name="Shape 14"/>
          <p:cNvSpPr/>
          <p:nvPr/>
        </p:nvSpPr>
        <p:spPr>
          <a:xfrm>
            <a:off x="6172200" y="3931920"/>
            <a:ext cx="5349240" cy="1965960"/>
          </a:xfrm>
          <a:prstGeom prst="roundRect">
            <a:avLst>
              <a:gd name="adj" fmla="val 4651"/>
            </a:avLst>
          </a:prstGeom>
          <a:solidFill>
            <a:srgbClr val="FFFFFF"/>
          </a:solidFill>
          <a:ln/>
          <a:effectLst>
            <a:outerShdw blurRad="114300" dist="38100" dir="5400000" algn="bl" rotWithShape="0">
              <a:srgbClr val="5B4FA8">
                <a:alpha val="15000"/>
              </a:srgbClr>
            </a:outerShdw>
          </a:effectLst>
        </p:spPr>
        <p:txBody>
          <a:bodyPr/>
          <a:lstStyle/>
          <a:p>
            <a:endParaRPr lang="en-ZA"/>
          </a:p>
        </p:txBody>
      </p:sp>
      <p:sp>
        <p:nvSpPr>
          <p:cNvPr id="20" name="Text 15"/>
          <p:cNvSpPr/>
          <p:nvPr/>
        </p:nvSpPr>
        <p:spPr>
          <a:xfrm>
            <a:off x="6446520" y="4114800"/>
            <a:ext cx="1280160" cy="822960"/>
          </a:xfrm>
          <a:prstGeom prst="rect">
            <a:avLst/>
          </a:prstGeom>
          <a:noFill/>
          <a:ln/>
        </p:spPr>
        <p:txBody>
          <a:bodyPr wrap="square" rtlCol="0" anchor="ctr"/>
          <a:lstStyle/>
          <a:p>
            <a:pPr marL="0" indent="0">
              <a:buNone/>
            </a:pPr>
            <a:r>
              <a:rPr lang="en-US" sz="4000" b="1" dirty="0">
                <a:solidFill>
                  <a:srgbClr val="ECE9FB"/>
                </a:solidFill>
                <a:latin typeface="Cambria" pitchFamily="34" charset="0"/>
                <a:ea typeface="Cambria" pitchFamily="34" charset="-122"/>
                <a:cs typeface="Cambria" pitchFamily="34" charset="-120"/>
              </a:rPr>
              <a:t>04</a:t>
            </a:r>
            <a:endParaRPr lang="en-US" sz="4000" dirty="0"/>
          </a:p>
        </p:txBody>
      </p:sp>
      <p:sp>
        <p:nvSpPr>
          <p:cNvPr id="21" name="Shape 16"/>
          <p:cNvSpPr/>
          <p:nvPr/>
        </p:nvSpPr>
        <p:spPr>
          <a:xfrm>
            <a:off x="10744200" y="4187952"/>
            <a:ext cx="457200" cy="457200"/>
          </a:xfrm>
          <a:prstGeom prst="ellipse">
            <a:avLst/>
          </a:prstGeom>
          <a:solidFill>
            <a:srgbClr val="2B1E6B"/>
          </a:solidFill>
          <a:ln/>
        </p:spPr>
        <p:txBody>
          <a:bodyPr/>
          <a:lstStyle/>
          <a:p>
            <a:endParaRPr lang="en-ZA"/>
          </a:p>
        </p:txBody>
      </p:sp>
      <p:pic>
        <p:nvPicPr>
          <p:cNvPr id="22" name="Image 3" descr="/home/claude/assets/icon_userplus_white.png"/>
          <p:cNvPicPr>
            <a:picLocks noChangeAspect="1"/>
          </p:cNvPicPr>
          <p:nvPr/>
        </p:nvPicPr>
        <p:blipFill>
          <a:blip r:embed="rId6"/>
          <a:stretch>
            <a:fillRect/>
          </a:stretch>
        </p:blipFill>
        <p:spPr>
          <a:xfrm>
            <a:off x="10803636" y="4247388"/>
            <a:ext cx="338328" cy="338328"/>
          </a:xfrm>
          <a:prstGeom prst="rect">
            <a:avLst/>
          </a:prstGeom>
        </p:spPr>
      </p:pic>
      <p:sp>
        <p:nvSpPr>
          <p:cNvPr id="23" name="Text 17"/>
          <p:cNvSpPr/>
          <p:nvPr/>
        </p:nvSpPr>
        <p:spPr>
          <a:xfrm>
            <a:off x="6492240" y="4846320"/>
            <a:ext cx="4709160" cy="914400"/>
          </a:xfrm>
          <a:prstGeom prst="rect">
            <a:avLst/>
          </a:prstGeom>
          <a:noFill/>
          <a:ln/>
        </p:spPr>
        <p:txBody>
          <a:bodyPr wrap="square" rtlCol="0" anchor="ctr"/>
          <a:lstStyle/>
          <a:p>
            <a:pPr marL="0" indent="0">
              <a:lnSpc>
                <a:spcPts val="1900"/>
              </a:lnSpc>
              <a:buNone/>
            </a:pPr>
            <a:r>
              <a:rPr lang="en-US" sz="1500" b="1" dirty="0">
                <a:solidFill>
                  <a:srgbClr val="2A2A3C"/>
                </a:solidFill>
                <a:latin typeface="Calibri" pitchFamily="34" charset="0"/>
                <a:ea typeface="Calibri" pitchFamily="34" charset="-122"/>
                <a:cs typeface="Calibri" pitchFamily="34" charset="-120"/>
              </a:rPr>
              <a:t>What initiatives can further grow BrightTV's user base?</a:t>
            </a:r>
            <a:endParaRPr lang="en-US" sz="1500" dirty="0"/>
          </a:p>
        </p:txBody>
      </p:sp>
      <p:sp>
        <p:nvSpPr>
          <p:cNvPr id="25" name="Text 18"/>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26" name="Text 19"/>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HOW WE GOT HERE</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Data &amp; Methodology</a:t>
            </a:r>
            <a:endParaRPr lang="en-US" sz="3200" dirty="0"/>
          </a:p>
        </p:txBody>
      </p:sp>
      <p:sp>
        <p:nvSpPr>
          <p:cNvPr id="4" name="Shape 2"/>
          <p:cNvSpPr/>
          <p:nvPr/>
        </p:nvSpPr>
        <p:spPr>
          <a:xfrm>
            <a:off x="548640" y="1645920"/>
            <a:ext cx="539496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5" name="Shape 3"/>
          <p:cNvSpPr/>
          <p:nvPr/>
        </p:nvSpPr>
        <p:spPr>
          <a:xfrm>
            <a:off x="822960" y="1874520"/>
            <a:ext cx="457200" cy="457200"/>
          </a:xfrm>
          <a:prstGeom prst="ellipse">
            <a:avLst/>
          </a:prstGeom>
          <a:solidFill>
            <a:srgbClr val="2B1E6B"/>
          </a:solidFill>
          <a:ln/>
        </p:spPr>
        <p:txBody>
          <a:bodyPr/>
          <a:lstStyle/>
          <a:p>
            <a:endParaRPr lang="en-ZA"/>
          </a:p>
        </p:txBody>
      </p:sp>
      <p:pic>
        <p:nvPicPr>
          <p:cNvPr id="6" name="Image 0" descr="/home/claude/assets/icon_database_white.png"/>
          <p:cNvPicPr>
            <a:picLocks noChangeAspect="1"/>
          </p:cNvPicPr>
          <p:nvPr/>
        </p:nvPicPr>
        <p:blipFill>
          <a:blip r:embed="rId3"/>
          <a:stretch>
            <a:fillRect/>
          </a:stretch>
        </p:blipFill>
        <p:spPr>
          <a:xfrm>
            <a:off x="882396" y="1933956"/>
            <a:ext cx="338328" cy="338328"/>
          </a:xfrm>
          <a:prstGeom prst="rect">
            <a:avLst/>
          </a:prstGeom>
        </p:spPr>
      </p:pic>
      <p:sp>
        <p:nvSpPr>
          <p:cNvPr id="7" name="Text 4"/>
          <p:cNvSpPr/>
          <p:nvPr/>
        </p:nvSpPr>
        <p:spPr>
          <a:xfrm>
            <a:off x="1463040" y="1874520"/>
            <a:ext cx="4297680" cy="365760"/>
          </a:xfrm>
          <a:prstGeom prst="rect">
            <a:avLst/>
          </a:prstGeom>
          <a:noFill/>
          <a:ln/>
        </p:spPr>
        <p:txBody>
          <a:bodyPr wrap="square" rtlCol="0" anchor="ctr"/>
          <a:lstStyle/>
          <a:p>
            <a:pPr marL="0" indent="0">
              <a:buNone/>
            </a:pPr>
            <a:r>
              <a:rPr lang="en-US" sz="1500" b="1" dirty="0">
                <a:solidFill>
                  <a:srgbClr val="2B1E6B"/>
                </a:solidFill>
                <a:latin typeface="Calibri" pitchFamily="34" charset="0"/>
                <a:ea typeface="Calibri" pitchFamily="34" charset="-122"/>
                <a:cs typeface="Calibri" pitchFamily="34" charset="-120"/>
              </a:rPr>
              <a:t>Two linked datasets</a:t>
            </a:r>
            <a:endParaRPr lang="en-US" sz="1500" dirty="0"/>
          </a:p>
        </p:txBody>
      </p:sp>
      <p:sp>
        <p:nvSpPr>
          <p:cNvPr id="8" name="Text 5"/>
          <p:cNvSpPr/>
          <p:nvPr/>
        </p:nvSpPr>
        <p:spPr>
          <a:xfrm>
            <a:off x="822960" y="2377440"/>
            <a:ext cx="4846320" cy="1143000"/>
          </a:xfrm>
          <a:prstGeom prst="rect">
            <a:avLst/>
          </a:prstGeom>
          <a:noFill/>
          <a:ln/>
        </p:spPr>
        <p:txBody>
          <a:bodyPr wrap="square" rtlCol="0" anchor="ctr"/>
          <a:lstStyle/>
          <a:p>
            <a:pPr marL="0" indent="0">
              <a:lnSpc>
                <a:spcPts val="1800"/>
              </a:lnSpc>
              <a:buNone/>
            </a:pPr>
            <a:r>
              <a:rPr lang="en-US" sz="1200" b="1" dirty="0">
                <a:solidFill>
                  <a:srgbClr val="2A2A3C"/>
                </a:solidFill>
                <a:latin typeface="Calibri" pitchFamily="34" charset="0"/>
                <a:ea typeface="Calibri" pitchFamily="34" charset="-122"/>
                <a:cs typeface="Calibri" pitchFamily="34" charset="-120"/>
              </a:rPr>
              <a:t>User Profiles  </a:t>
            </a:r>
            <a:r>
              <a:rPr lang="en-US" sz="1200" dirty="0">
                <a:solidFill>
                  <a:srgbClr val="6B6B7D"/>
                </a:solidFill>
                <a:latin typeface="Calibri" pitchFamily="34" charset="0"/>
                <a:ea typeface="Calibri" pitchFamily="34" charset="-122"/>
                <a:cs typeface="Calibri" pitchFamily="34" charset="-120"/>
              </a:rPr>
              <a:t>— 5,375 records: demographics (gender, age, province)
</a:t>
            </a:r>
            <a:r>
              <a:rPr lang="en-US" sz="1200" b="1" dirty="0">
                <a:solidFill>
                  <a:srgbClr val="2A2A3C"/>
                </a:solidFill>
                <a:latin typeface="Calibri" pitchFamily="34" charset="0"/>
                <a:ea typeface="Calibri" pitchFamily="34" charset="-122"/>
                <a:cs typeface="Calibri" pitchFamily="34" charset="-120"/>
              </a:rPr>
              <a:t>Viewership  </a:t>
            </a:r>
            <a:r>
              <a:rPr lang="en-US" sz="1200" dirty="0">
                <a:solidFill>
                  <a:srgbClr val="6B6B7D"/>
                </a:solidFill>
                <a:latin typeface="Calibri" pitchFamily="34" charset="0"/>
                <a:ea typeface="Calibri" pitchFamily="34" charset="-122"/>
                <a:cs typeface="Calibri" pitchFamily="34" charset="-120"/>
              </a:rPr>
              <a:t>— 10,000 raw session records, Jan–Mar 2016, joined by UserID</a:t>
            </a:r>
            <a:endParaRPr lang="en-US" sz="1200" dirty="0"/>
          </a:p>
        </p:txBody>
      </p:sp>
      <p:sp>
        <p:nvSpPr>
          <p:cNvPr id="9" name="Shape 6"/>
          <p:cNvSpPr/>
          <p:nvPr/>
        </p:nvSpPr>
        <p:spPr>
          <a:xfrm>
            <a:off x="6172200" y="1645920"/>
            <a:ext cx="548640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0" name="Shape 7"/>
          <p:cNvSpPr/>
          <p:nvPr/>
        </p:nvSpPr>
        <p:spPr>
          <a:xfrm>
            <a:off x="6446520" y="1874520"/>
            <a:ext cx="457200" cy="457200"/>
          </a:xfrm>
          <a:prstGeom prst="ellipse">
            <a:avLst/>
          </a:prstGeom>
          <a:solidFill>
            <a:srgbClr val="F5A623"/>
          </a:solidFill>
          <a:ln/>
        </p:spPr>
        <p:txBody>
          <a:bodyPr/>
          <a:lstStyle/>
          <a:p>
            <a:endParaRPr lang="en-ZA"/>
          </a:p>
        </p:txBody>
      </p:sp>
      <p:pic>
        <p:nvPicPr>
          <p:cNvPr id="11" name="Image 1" descr="/home/claude/assets/icon_clock_white.png"/>
          <p:cNvPicPr>
            <a:picLocks noChangeAspect="1"/>
          </p:cNvPicPr>
          <p:nvPr/>
        </p:nvPicPr>
        <p:blipFill>
          <a:blip r:embed="rId4"/>
          <a:stretch>
            <a:fillRect/>
          </a:stretch>
        </p:blipFill>
        <p:spPr>
          <a:xfrm>
            <a:off x="6505956" y="1933956"/>
            <a:ext cx="338328" cy="338328"/>
          </a:xfrm>
          <a:prstGeom prst="rect">
            <a:avLst/>
          </a:prstGeom>
        </p:spPr>
      </p:pic>
      <p:sp>
        <p:nvSpPr>
          <p:cNvPr id="12" name="Text 8"/>
          <p:cNvSpPr/>
          <p:nvPr/>
        </p:nvSpPr>
        <p:spPr>
          <a:xfrm>
            <a:off x="7086600" y="1874520"/>
            <a:ext cx="4480560" cy="365760"/>
          </a:xfrm>
          <a:prstGeom prst="rect">
            <a:avLst/>
          </a:prstGeom>
          <a:noFill/>
          <a:ln/>
        </p:spPr>
        <p:txBody>
          <a:bodyPr wrap="square" rtlCol="0" anchor="ctr"/>
          <a:lstStyle/>
          <a:p>
            <a:pPr marL="0" indent="0">
              <a:buNone/>
            </a:pPr>
            <a:r>
              <a:rPr lang="en-US" sz="1500" b="1" dirty="0">
                <a:solidFill>
                  <a:srgbClr val="2B1E6B"/>
                </a:solidFill>
                <a:latin typeface="Calibri" pitchFamily="34" charset="0"/>
                <a:ea typeface="Calibri" pitchFamily="34" charset="-122"/>
                <a:cs typeface="Calibri" pitchFamily="34" charset="-120"/>
              </a:rPr>
              <a:t>Time standardisation</a:t>
            </a:r>
            <a:endParaRPr lang="en-US" sz="1500" dirty="0"/>
          </a:p>
        </p:txBody>
      </p:sp>
      <p:sp>
        <p:nvSpPr>
          <p:cNvPr id="13" name="Text 9"/>
          <p:cNvSpPr/>
          <p:nvPr/>
        </p:nvSpPr>
        <p:spPr>
          <a:xfrm>
            <a:off x="6446520" y="2377440"/>
            <a:ext cx="5029200" cy="1143000"/>
          </a:xfrm>
          <a:prstGeom prst="rect">
            <a:avLst/>
          </a:prstGeom>
          <a:noFill/>
          <a:ln/>
        </p:spPr>
        <p:txBody>
          <a:bodyPr wrap="square" rtlCol="0" anchor="ctr"/>
          <a:lstStyle/>
          <a:p>
            <a:pPr marL="0" indent="0">
              <a:lnSpc>
                <a:spcPts val="1800"/>
              </a:lnSpc>
              <a:buNone/>
            </a:pPr>
            <a:r>
              <a:rPr lang="en-US" sz="1200" dirty="0">
                <a:solidFill>
                  <a:srgbClr val="6B6B7D"/>
                </a:solidFill>
                <a:latin typeface="Calibri" pitchFamily="34" charset="0"/>
                <a:ea typeface="Calibri" pitchFamily="34" charset="-122"/>
                <a:cs typeface="Calibri" pitchFamily="34" charset="-120"/>
              </a:rPr>
              <a:t>All session timestamps were supplied in UTC and converted to South African time (UTC+2) before any day-of-week or hour-of-day analysis.</a:t>
            </a:r>
            <a:endParaRPr lang="en-US" sz="1200" dirty="0"/>
          </a:p>
        </p:txBody>
      </p:sp>
      <p:sp>
        <p:nvSpPr>
          <p:cNvPr id="14" name="Text 10"/>
          <p:cNvSpPr/>
          <p:nvPr/>
        </p:nvSpPr>
        <p:spPr>
          <a:xfrm>
            <a:off x="548640" y="3840480"/>
            <a:ext cx="5486400" cy="365760"/>
          </a:xfrm>
          <a:prstGeom prst="rect">
            <a:avLst/>
          </a:prstGeom>
          <a:noFill/>
          <a:ln/>
        </p:spPr>
        <p:txBody>
          <a:bodyPr wrap="square" rtlCol="0" anchor="ctr"/>
          <a:lstStyle/>
          <a:p>
            <a:pPr marL="0" indent="0">
              <a:buNone/>
            </a:pPr>
            <a:r>
              <a:rPr lang="en-US" sz="1400" b="1" dirty="0">
                <a:solidFill>
                  <a:srgbClr val="2B1E6B"/>
                </a:solidFill>
                <a:latin typeface="Calibri" pitchFamily="34" charset="0"/>
                <a:ea typeface="Calibri" pitchFamily="34" charset="-122"/>
                <a:cs typeface="Calibri" pitchFamily="34" charset="-120"/>
              </a:rPr>
              <a:t>Cleaning &amp; aggregation steps</a:t>
            </a:r>
            <a:endParaRPr lang="en-US" sz="1400" dirty="0"/>
          </a:p>
        </p:txBody>
      </p:sp>
      <p:sp>
        <p:nvSpPr>
          <p:cNvPr id="15" name="Shape 11"/>
          <p:cNvSpPr/>
          <p:nvPr/>
        </p:nvSpPr>
        <p:spPr>
          <a:xfrm>
            <a:off x="548640" y="4251960"/>
            <a:ext cx="292608" cy="292608"/>
          </a:xfrm>
          <a:prstGeom prst="ellipse">
            <a:avLst/>
          </a:prstGeom>
          <a:solidFill>
            <a:srgbClr val="8A7FE0"/>
          </a:solidFill>
          <a:ln/>
        </p:spPr>
        <p:txBody>
          <a:bodyPr/>
          <a:lstStyle/>
          <a:p>
            <a:endParaRPr lang="en-ZA"/>
          </a:p>
        </p:txBody>
      </p:sp>
      <p:pic>
        <p:nvPicPr>
          <p:cNvPr id="16" name="Image 2" descr="/home/claude/assets/icon_check_white.png"/>
          <p:cNvPicPr>
            <a:picLocks noChangeAspect="1"/>
          </p:cNvPicPr>
          <p:nvPr/>
        </p:nvPicPr>
        <p:blipFill>
          <a:blip r:embed="rId5"/>
          <a:stretch>
            <a:fillRect/>
          </a:stretch>
        </p:blipFill>
        <p:spPr>
          <a:xfrm>
            <a:off x="586679" y="4289999"/>
            <a:ext cx="216530" cy="216530"/>
          </a:xfrm>
          <a:prstGeom prst="rect">
            <a:avLst/>
          </a:prstGeom>
        </p:spPr>
      </p:pic>
      <p:sp>
        <p:nvSpPr>
          <p:cNvPr id="17" name="Text 12"/>
          <p:cNvSpPr/>
          <p:nvPr/>
        </p:nvSpPr>
        <p:spPr>
          <a:xfrm>
            <a:off x="960120" y="4224528"/>
            <a:ext cx="8046720" cy="365760"/>
          </a:xfrm>
          <a:prstGeom prst="rect">
            <a:avLst/>
          </a:prstGeom>
          <a:noFill/>
          <a:ln/>
        </p:spPr>
        <p:txBody>
          <a:bodyPr wrap="square" rtlCol="0" anchor="ctr"/>
          <a:lstStyle/>
          <a:p>
            <a:pPr marL="0" indent="0">
              <a:buNone/>
            </a:pPr>
            <a:r>
              <a:rPr lang="en-US" sz="1200" dirty="0">
                <a:solidFill>
                  <a:srgbClr val="2A2A3C"/>
                </a:solidFill>
                <a:latin typeface="Calibri" pitchFamily="34" charset="0"/>
                <a:ea typeface="Calibri" pitchFamily="34" charset="-122"/>
                <a:cs typeface="Calibri" pitchFamily="34" charset="-120"/>
              </a:rPr>
              <a:t>Removed 5 exact duplicate session records (10,000 → 9,995 valid sessions)</a:t>
            </a:r>
            <a:endParaRPr lang="en-US" sz="1200" dirty="0"/>
          </a:p>
        </p:txBody>
      </p:sp>
      <p:sp>
        <p:nvSpPr>
          <p:cNvPr id="18" name="Shape 13"/>
          <p:cNvSpPr/>
          <p:nvPr/>
        </p:nvSpPr>
        <p:spPr>
          <a:xfrm>
            <a:off x="548640" y="4672584"/>
            <a:ext cx="292608" cy="292608"/>
          </a:xfrm>
          <a:prstGeom prst="ellipse">
            <a:avLst/>
          </a:prstGeom>
          <a:solidFill>
            <a:srgbClr val="8A7FE0"/>
          </a:solidFill>
          <a:ln/>
        </p:spPr>
        <p:txBody>
          <a:bodyPr/>
          <a:lstStyle/>
          <a:p>
            <a:endParaRPr lang="en-ZA"/>
          </a:p>
        </p:txBody>
      </p:sp>
      <p:pic>
        <p:nvPicPr>
          <p:cNvPr id="19" name="Image 3" descr="/home/claude/assets/icon_check_white.png"/>
          <p:cNvPicPr>
            <a:picLocks noChangeAspect="1"/>
          </p:cNvPicPr>
          <p:nvPr/>
        </p:nvPicPr>
        <p:blipFill>
          <a:blip r:embed="rId5"/>
          <a:stretch>
            <a:fillRect/>
          </a:stretch>
        </p:blipFill>
        <p:spPr>
          <a:xfrm>
            <a:off x="586679" y="4710623"/>
            <a:ext cx="216530" cy="216530"/>
          </a:xfrm>
          <a:prstGeom prst="rect">
            <a:avLst/>
          </a:prstGeom>
        </p:spPr>
      </p:pic>
      <p:sp>
        <p:nvSpPr>
          <p:cNvPr id="20" name="Text 14"/>
          <p:cNvSpPr/>
          <p:nvPr/>
        </p:nvSpPr>
        <p:spPr>
          <a:xfrm>
            <a:off x="960120" y="4645152"/>
            <a:ext cx="8046720" cy="365760"/>
          </a:xfrm>
          <a:prstGeom prst="rect">
            <a:avLst/>
          </a:prstGeom>
          <a:noFill/>
          <a:ln/>
        </p:spPr>
        <p:txBody>
          <a:bodyPr wrap="square" rtlCol="0" anchor="ctr"/>
          <a:lstStyle/>
          <a:p>
            <a:pPr marL="0" indent="0">
              <a:buNone/>
            </a:pPr>
            <a:r>
              <a:rPr lang="en-US" sz="1200" dirty="0">
                <a:solidFill>
                  <a:srgbClr val="2A2A3C"/>
                </a:solidFill>
                <a:latin typeface="Calibri" pitchFamily="34" charset="0"/>
                <a:ea typeface="Calibri" pitchFamily="34" charset="-122"/>
                <a:cs typeface="Calibri" pitchFamily="34" charset="-120"/>
              </a:rPr>
              <a:t>Converted RecordDate from UTC to SAST (+2 hours)</a:t>
            </a:r>
            <a:endParaRPr lang="en-US" sz="1200" dirty="0"/>
          </a:p>
        </p:txBody>
      </p:sp>
      <p:sp>
        <p:nvSpPr>
          <p:cNvPr id="21" name="Shape 15"/>
          <p:cNvSpPr/>
          <p:nvPr/>
        </p:nvSpPr>
        <p:spPr>
          <a:xfrm>
            <a:off x="548640" y="5093208"/>
            <a:ext cx="292608" cy="292608"/>
          </a:xfrm>
          <a:prstGeom prst="ellipse">
            <a:avLst/>
          </a:prstGeom>
          <a:solidFill>
            <a:srgbClr val="8A7FE0"/>
          </a:solidFill>
          <a:ln/>
        </p:spPr>
        <p:txBody>
          <a:bodyPr/>
          <a:lstStyle/>
          <a:p>
            <a:endParaRPr lang="en-ZA"/>
          </a:p>
        </p:txBody>
      </p:sp>
      <p:pic>
        <p:nvPicPr>
          <p:cNvPr id="22" name="Image 4" descr="/home/claude/assets/icon_check_white.png"/>
          <p:cNvPicPr>
            <a:picLocks noChangeAspect="1"/>
          </p:cNvPicPr>
          <p:nvPr/>
        </p:nvPicPr>
        <p:blipFill>
          <a:blip r:embed="rId5"/>
          <a:stretch>
            <a:fillRect/>
          </a:stretch>
        </p:blipFill>
        <p:spPr>
          <a:xfrm>
            <a:off x="586679" y="5131247"/>
            <a:ext cx="216530" cy="216530"/>
          </a:xfrm>
          <a:prstGeom prst="rect">
            <a:avLst/>
          </a:prstGeom>
        </p:spPr>
      </p:pic>
      <p:sp>
        <p:nvSpPr>
          <p:cNvPr id="23" name="Text 16"/>
          <p:cNvSpPr/>
          <p:nvPr/>
        </p:nvSpPr>
        <p:spPr>
          <a:xfrm>
            <a:off x="960120" y="5065776"/>
            <a:ext cx="8046720" cy="365760"/>
          </a:xfrm>
          <a:prstGeom prst="rect">
            <a:avLst/>
          </a:prstGeom>
          <a:noFill/>
          <a:ln/>
        </p:spPr>
        <p:txBody>
          <a:bodyPr wrap="square" rtlCol="0" anchor="ctr"/>
          <a:lstStyle/>
          <a:p>
            <a:pPr marL="0" indent="0">
              <a:buNone/>
            </a:pPr>
            <a:r>
              <a:rPr lang="en-US" sz="1200" dirty="0">
                <a:solidFill>
                  <a:srgbClr val="2A2A3C"/>
                </a:solidFill>
                <a:latin typeface="Calibri" pitchFamily="34" charset="0"/>
                <a:ea typeface="Calibri" pitchFamily="34" charset="-122"/>
                <a:cs typeface="Calibri" pitchFamily="34" charset="-120"/>
              </a:rPr>
              <a:t>Joined sessions to user profiles on UserID for demographic analysis</a:t>
            </a:r>
            <a:endParaRPr lang="en-US" sz="1200" dirty="0"/>
          </a:p>
        </p:txBody>
      </p:sp>
      <p:sp>
        <p:nvSpPr>
          <p:cNvPr id="24" name="Shape 17"/>
          <p:cNvSpPr/>
          <p:nvPr/>
        </p:nvSpPr>
        <p:spPr>
          <a:xfrm>
            <a:off x="548640" y="5513832"/>
            <a:ext cx="292608" cy="292608"/>
          </a:xfrm>
          <a:prstGeom prst="ellipse">
            <a:avLst/>
          </a:prstGeom>
          <a:solidFill>
            <a:srgbClr val="8A7FE0"/>
          </a:solidFill>
          <a:ln/>
        </p:spPr>
        <p:txBody>
          <a:bodyPr/>
          <a:lstStyle/>
          <a:p>
            <a:endParaRPr lang="en-ZA"/>
          </a:p>
        </p:txBody>
      </p:sp>
      <p:pic>
        <p:nvPicPr>
          <p:cNvPr id="25" name="Image 5" descr="/home/claude/assets/icon_check_white.png"/>
          <p:cNvPicPr>
            <a:picLocks noChangeAspect="1"/>
          </p:cNvPicPr>
          <p:nvPr/>
        </p:nvPicPr>
        <p:blipFill>
          <a:blip r:embed="rId5"/>
          <a:stretch>
            <a:fillRect/>
          </a:stretch>
        </p:blipFill>
        <p:spPr>
          <a:xfrm>
            <a:off x="586679" y="5551871"/>
            <a:ext cx="216530" cy="216530"/>
          </a:xfrm>
          <a:prstGeom prst="rect">
            <a:avLst/>
          </a:prstGeom>
        </p:spPr>
      </p:pic>
      <p:sp>
        <p:nvSpPr>
          <p:cNvPr id="26" name="Text 18"/>
          <p:cNvSpPr/>
          <p:nvPr/>
        </p:nvSpPr>
        <p:spPr>
          <a:xfrm>
            <a:off x="960120" y="5486400"/>
            <a:ext cx="8046720" cy="365760"/>
          </a:xfrm>
          <a:prstGeom prst="rect">
            <a:avLst/>
          </a:prstGeom>
          <a:noFill/>
          <a:ln/>
        </p:spPr>
        <p:txBody>
          <a:bodyPr wrap="square" rtlCol="0" anchor="ctr"/>
          <a:lstStyle/>
          <a:p>
            <a:pPr marL="0" indent="0">
              <a:buNone/>
            </a:pPr>
            <a:r>
              <a:rPr lang="en-US" sz="1200" dirty="0">
                <a:solidFill>
                  <a:srgbClr val="2A2A3C"/>
                </a:solidFill>
                <a:latin typeface="Calibri" pitchFamily="34" charset="0"/>
                <a:ea typeface="Calibri" pitchFamily="34" charset="-122"/>
                <a:cs typeface="Calibri" pitchFamily="34" charset="-120"/>
              </a:rPr>
              <a:t>Aggregated sessions by day, hour, channel, gender, age and province</a:t>
            </a:r>
            <a:endParaRPr lang="en-US" sz="1200" dirty="0"/>
          </a:p>
        </p:txBody>
      </p:sp>
      <p:sp>
        <p:nvSpPr>
          <p:cNvPr id="27" name="Shape 19"/>
          <p:cNvSpPr/>
          <p:nvPr/>
        </p:nvSpPr>
        <p:spPr>
          <a:xfrm>
            <a:off x="8778240" y="3840480"/>
            <a:ext cx="2880360" cy="2423160"/>
          </a:xfrm>
          <a:prstGeom prst="roundRect">
            <a:avLst>
              <a:gd name="adj" fmla="val 3019"/>
            </a:avLst>
          </a:prstGeom>
          <a:solidFill>
            <a:srgbClr val="ECE9FB"/>
          </a:solidFill>
          <a:ln/>
        </p:spPr>
        <p:txBody>
          <a:bodyPr/>
          <a:lstStyle/>
          <a:p>
            <a:endParaRPr lang="en-ZA"/>
          </a:p>
        </p:txBody>
      </p:sp>
      <p:pic>
        <p:nvPicPr>
          <p:cNvPr id="28" name="Image 6" descr="/home/claude/assets/icon_alert_coral.png"/>
          <p:cNvPicPr>
            <a:picLocks noChangeAspect="1"/>
          </p:cNvPicPr>
          <p:nvPr/>
        </p:nvPicPr>
        <p:blipFill>
          <a:blip r:embed="rId6"/>
          <a:stretch>
            <a:fillRect/>
          </a:stretch>
        </p:blipFill>
        <p:spPr>
          <a:xfrm>
            <a:off x="8961120" y="4896612"/>
            <a:ext cx="310896" cy="310896"/>
          </a:xfrm>
          <a:prstGeom prst="rect">
            <a:avLst/>
          </a:prstGeom>
        </p:spPr>
      </p:pic>
      <p:sp>
        <p:nvSpPr>
          <p:cNvPr id="29" name="Text 20"/>
          <p:cNvSpPr/>
          <p:nvPr/>
        </p:nvSpPr>
        <p:spPr>
          <a:xfrm>
            <a:off x="9381744" y="3840480"/>
            <a:ext cx="2057400" cy="2423160"/>
          </a:xfrm>
          <a:prstGeom prst="rect">
            <a:avLst/>
          </a:prstGeom>
          <a:noFill/>
          <a:ln/>
        </p:spPr>
        <p:txBody>
          <a:bodyPr wrap="square" rtlCol="0" anchor="ctr"/>
          <a:lstStyle/>
          <a:p>
            <a:pPr marL="0" indent="0">
              <a:buNone/>
            </a:pPr>
            <a:r>
              <a:rPr lang="en-US" sz="1050" dirty="0">
                <a:solidFill>
                  <a:srgbClr val="2A2A3C"/>
                </a:solidFill>
                <a:latin typeface="Calibri" pitchFamily="34" charset="0"/>
                <a:ea typeface="Calibri" pitchFamily="34" charset="-122"/>
                <a:cs typeface="Calibri" pitchFamily="34" charset="-120"/>
              </a:rPr>
              <a:t>3.99% of users (175) have no matched demographic profile and are excluded from gender/age percentages.</a:t>
            </a:r>
            <a:endParaRPr lang="en-US" sz="1050" dirty="0"/>
          </a:p>
        </p:txBody>
      </p:sp>
      <p:sp>
        <p:nvSpPr>
          <p:cNvPr id="31" name="Text 21"/>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32" name="Text 22"/>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AT A GLANCE</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Executive Overview</a:t>
            </a:r>
            <a:endParaRPr lang="en-US" sz="3200" dirty="0"/>
          </a:p>
        </p:txBody>
      </p:sp>
      <p:sp>
        <p:nvSpPr>
          <p:cNvPr id="4" name="Text 2"/>
          <p:cNvSpPr/>
          <p:nvPr/>
        </p:nvSpPr>
        <p:spPr>
          <a:xfrm>
            <a:off x="548640" y="1298448"/>
            <a:ext cx="7315200" cy="320040"/>
          </a:xfrm>
          <a:prstGeom prst="rect">
            <a:avLst/>
          </a:prstGeom>
          <a:noFill/>
          <a:ln/>
        </p:spPr>
        <p:txBody>
          <a:bodyPr wrap="square" rtlCol="0" anchor="ctr"/>
          <a:lstStyle/>
          <a:p>
            <a:pPr marL="0" indent="0">
              <a:buNone/>
            </a:pPr>
            <a:r>
              <a:rPr lang="en-US" sz="1300" i="1" dirty="0">
                <a:solidFill>
                  <a:srgbClr val="6B6B7D"/>
                </a:solidFill>
                <a:latin typeface="Calibri" pitchFamily="34" charset="0"/>
                <a:ea typeface="Calibri" pitchFamily="34" charset="-122"/>
                <a:cs typeface="Calibri" pitchFamily="34" charset="-120"/>
              </a:rPr>
              <a:t>Six numbers that frame the rest of this analysis.</a:t>
            </a:r>
            <a:endParaRPr lang="en-US" sz="1300" dirty="0"/>
          </a:p>
        </p:txBody>
      </p:sp>
      <p:sp>
        <p:nvSpPr>
          <p:cNvPr id="5" name="Shape 3"/>
          <p:cNvSpPr/>
          <p:nvPr/>
        </p:nvSpPr>
        <p:spPr>
          <a:xfrm>
            <a:off x="548640" y="1828800"/>
            <a:ext cx="3611880" cy="1965960"/>
          </a:xfrm>
          <a:prstGeom prst="roundRect">
            <a:avLst>
              <a:gd name="adj" fmla="val 4651"/>
            </a:avLst>
          </a:prstGeom>
          <a:solidFill>
            <a:srgbClr val="FFFFFF"/>
          </a:solidFill>
          <a:ln/>
          <a:effectLst>
            <a:outerShdw blurRad="127000" dist="38100" dir="5400000" algn="bl" rotWithShape="0">
              <a:srgbClr val="5B4FA8">
                <a:alpha val="16000"/>
              </a:srgbClr>
            </a:outerShdw>
          </a:effectLst>
        </p:spPr>
        <p:txBody>
          <a:bodyPr/>
          <a:lstStyle/>
          <a:p>
            <a:endParaRPr lang="en-ZA"/>
          </a:p>
        </p:txBody>
      </p:sp>
      <p:sp>
        <p:nvSpPr>
          <p:cNvPr id="6" name="Shape 4"/>
          <p:cNvSpPr/>
          <p:nvPr/>
        </p:nvSpPr>
        <p:spPr>
          <a:xfrm>
            <a:off x="3593592" y="1993392"/>
            <a:ext cx="384048" cy="384048"/>
          </a:xfrm>
          <a:prstGeom prst="ellipse">
            <a:avLst/>
          </a:prstGeom>
          <a:solidFill>
            <a:srgbClr val="2B1E6B"/>
          </a:solidFill>
          <a:ln/>
        </p:spPr>
        <p:txBody>
          <a:bodyPr/>
          <a:lstStyle/>
          <a:p>
            <a:endParaRPr lang="en-ZA"/>
          </a:p>
        </p:txBody>
      </p:sp>
      <p:pic>
        <p:nvPicPr>
          <p:cNvPr id="7" name="Image 0" descr="/home/claude/assets/icon_users_white.png"/>
          <p:cNvPicPr>
            <a:picLocks noChangeAspect="1"/>
          </p:cNvPicPr>
          <p:nvPr/>
        </p:nvPicPr>
        <p:blipFill>
          <a:blip r:embed="rId3"/>
          <a:stretch>
            <a:fillRect/>
          </a:stretch>
        </p:blipFill>
        <p:spPr>
          <a:xfrm>
            <a:off x="3643518" y="2043318"/>
            <a:ext cx="284196" cy="284196"/>
          </a:xfrm>
          <a:prstGeom prst="rect">
            <a:avLst/>
          </a:prstGeom>
        </p:spPr>
      </p:pic>
      <p:sp>
        <p:nvSpPr>
          <p:cNvPr id="8" name="Text 5"/>
          <p:cNvSpPr/>
          <p:nvPr/>
        </p:nvSpPr>
        <p:spPr>
          <a:xfrm>
            <a:off x="749808" y="3008376"/>
            <a:ext cx="3246120" cy="457200"/>
          </a:xfrm>
          <a:prstGeom prst="rect">
            <a:avLst/>
          </a:prstGeom>
          <a:noFill/>
          <a:ln/>
        </p:spPr>
        <p:txBody>
          <a:bodyPr wrap="square" rtlCol="0" anchor="ctr"/>
          <a:lstStyle/>
          <a:p>
            <a:pPr marL="0" indent="0">
              <a:buNone/>
            </a:pPr>
            <a:r>
              <a:rPr lang="en-US" sz="2400" b="1" dirty="0">
                <a:solidFill>
                  <a:srgbClr val="2B1E6B"/>
                </a:solidFill>
                <a:latin typeface="Cambria" pitchFamily="34" charset="0"/>
                <a:ea typeface="Cambria" pitchFamily="34" charset="-122"/>
                <a:cs typeface="Cambria" pitchFamily="34" charset="-120"/>
              </a:rPr>
              <a:t>4,386</a:t>
            </a:r>
            <a:endParaRPr lang="en-US" sz="2400" dirty="0"/>
          </a:p>
        </p:txBody>
      </p:sp>
      <p:sp>
        <p:nvSpPr>
          <p:cNvPr id="9" name="Text 6"/>
          <p:cNvSpPr/>
          <p:nvPr/>
        </p:nvSpPr>
        <p:spPr>
          <a:xfrm>
            <a:off x="749808" y="3429000"/>
            <a:ext cx="3246120" cy="292608"/>
          </a:xfrm>
          <a:prstGeom prst="rect">
            <a:avLst/>
          </a:prstGeom>
          <a:noFill/>
          <a:ln/>
        </p:spPr>
        <p:txBody>
          <a:bodyPr wrap="square" rtlCol="0" anchor="ctr"/>
          <a:lstStyle/>
          <a:p>
            <a:pPr marL="0" indent="0">
              <a:buNone/>
            </a:pPr>
            <a:r>
              <a:rPr lang="en-US" sz="1050" dirty="0">
                <a:solidFill>
                  <a:srgbClr val="6B6B7D"/>
                </a:solidFill>
                <a:latin typeface="Calibri" pitchFamily="34" charset="0"/>
                <a:ea typeface="Calibri" pitchFamily="34" charset="-122"/>
                <a:cs typeface="Calibri" pitchFamily="34" charset="-120"/>
              </a:rPr>
              <a:t>Unique users</a:t>
            </a:r>
            <a:endParaRPr lang="en-US" sz="1050" dirty="0"/>
          </a:p>
        </p:txBody>
      </p:sp>
      <p:sp>
        <p:nvSpPr>
          <p:cNvPr id="10" name="Shape 7"/>
          <p:cNvSpPr/>
          <p:nvPr/>
        </p:nvSpPr>
        <p:spPr>
          <a:xfrm>
            <a:off x="4379976" y="1828800"/>
            <a:ext cx="3611880" cy="1965960"/>
          </a:xfrm>
          <a:prstGeom prst="roundRect">
            <a:avLst>
              <a:gd name="adj" fmla="val 4651"/>
            </a:avLst>
          </a:prstGeom>
          <a:solidFill>
            <a:srgbClr val="FFFFFF"/>
          </a:solidFill>
          <a:ln/>
          <a:effectLst>
            <a:outerShdw blurRad="127000" dist="38100" dir="5400000" algn="bl" rotWithShape="0">
              <a:srgbClr val="5B4FA8">
                <a:alpha val="16000"/>
              </a:srgbClr>
            </a:outerShdw>
          </a:effectLst>
        </p:spPr>
        <p:txBody>
          <a:bodyPr/>
          <a:lstStyle/>
          <a:p>
            <a:endParaRPr lang="en-ZA"/>
          </a:p>
        </p:txBody>
      </p:sp>
      <p:sp>
        <p:nvSpPr>
          <p:cNvPr id="11" name="Shape 8"/>
          <p:cNvSpPr/>
          <p:nvPr/>
        </p:nvSpPr>
        <p:spPr>
          <a:xfrm>
            <a:off x="7424928" y="1993392"/>
            <a:ext cx="384048" cy="384048"/>
          </a:xfrm>
          <a:prstGeom prst="ellipse">
            <a:avLst/>
          </a:prstGeom>
          <a:solidFill>
            <a:srgbClr val="2B1E6B"/>
          </a:solidFill>
          <a:ln/>
        </p:spPr>
        <p:txBody>
          <a:bodyPr/>
          <a:lstStyle/>
          <a:p>
            <a:endParaRPr lang="en-ZA"/>
          </a:p>
        </p:txBody>
      </p:sp>
      <p:pic>
        <p:nvPicPr>
          <p:cNvPr id="12" name="Image 1" descr="/home/claude/assets/icon_play_white.png"/>
          <p:cNvPicPr>
            <a:picLocks noChangeAspect="1"/>
          </p:cNvPicPr>
          <p:nvPr/>
        </p:nvPicPr>
        <p:blipFill>
          <a:blip r:embed="rId4"/>
          <a:stretch>
            <a:fillRect/>
          </a:stretch>
        </p:blipFill>
        <p:spPr>
          <a:xfrm>
            <a:off x="7474854" y="2043318"/>
            <a:ext cx="284196" cy="284196"/>
          </a:xfrm>
          <a:prstGeom prst="rect">
            <a:avLst/>
          </a:prstGeom>
        </p:spPr>
      </p:pic>
      <p:sp>
        <p:nvSpPr>
          <p:cNvPr id="13" name="Text 9"/>
          <p:cNvSpPr/>
          <p:nvPr/>
        </p:nvSpPr>
        <p:spPr>
          <a:xfrm>
            <a:off x="4581144" y="3008376"/>
            <a:ext cx="3246120" cy="457200"/>
          </a:xfrm>
          <a:prstGeom prst="rect">
            <a:avLst/>
          </a:prstGeom>
          <a:noFill/>
          <a:ln/>
        </p:spPr>
        <p:txBody>
          <a:bodyPr wrap="square" rtlCol="0" anchor="ctr"/>
          <a:lstStyle/>
          <a:p>
            <a:pPr marL="0" indent="0">
              <a:buNone/>
            </a:pPr>
            <a:r>
              <a:rPr lang="en-US" sz="2400" b="1" dirty="0">
                <a:solidFill>
                  <a:srgbClr val="2B1E6B"/>
                </a:solidFill>
                <a:latin typeface="Cambria" pitchFamily="34" charset="0"/>
                <a:ea typeface="Cambria" pitchFamily="34" charset="-122"/>
                <a:cs typeface="Cambria" pitchFamily="34" charset="-120"/>
              </a:rPr>
              <a:t>9,995</a:t>
            </a:r>
            <a:endParaRPr lang="en-US" sz="2400" dirty="0"/>
          </a:p>
        </p:txBody>
      </p:sp>
      <p:sp>
        <p:nvSpPr>
          <p:cNvPr id="14" name="Text 10"/>
          <p:cNvSpPr/>
          <p:nvPr/>
        </p:nvSpPr>
        <p:spPr>
          <a:xfrm>
            <a:off x="4581144" y="3429000"/>
            <a:ext cx="3246120" cy="292608"/>
          </a:xfrm>
          <a:prstGeom prst="rect">
            <a:avLst/>
          </a:prstGeom>
          <a:noFill/>
          <a:ln/>
        </p:spPr>
        <p:txBody>
          <a:bodyPr wrap="square" rtlCol="0" anchor="ctr"/>
          <a:lstStyle/>
          <a:p>
            <a:pPr marL="0" indent="0">
              <a:buNone/>
            </a:pPr>
            <a:r>
              <a:rPr lang="en-US" sz="1050" dirty="0">
                <a:solidFill>
                  <a:srgbClr val="6B6B7D"/>
                </a:solidFill>
                <a:latin typeface="Calibri" pitchFamily="34" charset="0"/>
                <a:ea typeface="Calibri" pitchFamily="34" charset="-122"/>
                <a:cs typeface="Calibri" pitchFamily="34" charset="-120"/>
              </a:rPr>
              <a:t>Valid sessions</a:t>
            </a:r>
            <a:endParaRPr lang="en-US" sz="1050" dirty="0"/>
          </a:p>
        </p:txBody>
      </p:sp>
      <p:sp>
        <p:nvSpPr>
          <p:cNvPr id="15" name="Shape 11"/>
          <p:cNvSpPr/>
          <p:nvPr/>
        </p:nvSpPr>
        <p:spPr>
          <a:xfrm>
            <a:off x="8211312" y="1828800"/>
            <a:ext cx="3611880" cy="1965960"/>
          </a:xfrm>
          <a:prstGeom prst="roundRect">
            <a:avLst>
              <a:gd name="adj" fmla="val 4651"/>
            </a:avLst>
          </a:prstGeom>
          <a:solidFill>
            <a:srgbClr val="FFFFFF"/>
          </a:solidFill>
          <a:ln/>
          <a:effectLst>
            <a:outerShdw blurRad="127000" dist="38100" dir="5400000" algn="bl" rotWithShape="0">
              <a:srgbClr val="5B4FA8">
                <a:alpha val="16000"/>
              </a:srgbClr>
            </a:outerShdw>
          </a:effectLst>
        </p:spPr>
        <p:txBody>
          <a:bodyPr/>
          <a:lstStyle/>
          <a:p>
            <a:endParaRPr lang="en-ZA"/>
          </a:p>
        </p:txBody>
      </p:sp>
      <p:sp>
        <p:nvSpPr>
          <p:cNvPr id="16" name="Shape 12"/>
          <p:cNvSpPr/>
          <p:nvPr/>
        </p:nvSpPr>
        <p:spPr>
          <a:xfrm>
            <a:off x="11256264" y="1993392"/>
            <a:ext cx="384048" cy="384048"/>
          </a:xfrm>
          <a:prstGeom prst="ellipse">
            <a:avLst/>
          </a:prstGeom>
          <a:solidFill>
            <a:srgbClr val="2B1E6B"/>
          </a:solidFill>
          <a:ln/>
        </p:spPr>
        <p:txBody>
          <a:bodyPr/>
          <a:lstStyle/>
          <a:p>
            <a:endParaRPr lang="en-ZA"/>
          </a:p>
        </p:txBody>
      </p:sp>
      <p:pic>
        <p:nvPicPr>
          <p:cNvPr id="17" name="Image 2" descr="/home/claude/assets/icon_repeat_white.png"/>
          <p:cNvPicPr>
            <a:picLocks noChangeAspect="1"/>
          </p:cNvPicPr>
          <p:nvPr/>
        </p:nvPicPr>
        <p:blipFill>
          <a:blip r:embed="rId5"/>
          <a:stretch>
            <a:fillRect/>
          </a:stretch>
        </p:blipFill>
        <p:spPr>
          <a:xfrm>
            <a:off x="11306190" y="2043318"/>
            <a:ext cx="284196" cy="284196"/>
          </a:xfrm>
          <a:prstGeom prst="rect">
            <a:avLst/>
          </a:prstGeom>
        </p:spPr>
      </p:pic>
      <p:sp>
        <p:nvSpPr>
          <p:cNvPr id="18" name="Text 13"/>
          <p:cNvSpPr/>
          <p:nvPr/>
        </p:nvSpPr>
        <p:spPr>
          <a:xfrm>
            <a:off x="8412480" y="3008376"/>
            <a:ext cx="3246120" cy="457200"/>
          </a:xfrm>
          <a:prstGeom prst="rect">
            <a:avLst/>
          </a:prstGeom>
          <a:noFill/>
          <a:ln/>
        </p:spPr>
        <p:txBody>
          <a:bodyPr wrap="square" rtlCol="0" anchor="ctr"/>
          <a:lstStyle/>
          <a:p>
            <a:pPr marL="0" indent="0">
              <a:buNone/>
            </a:pPr>
            <a:r>
              <a:rPr lang="en-US" sz="2400" b="1" dirty="0">
                <a:solidFill>
                  <a:srgbClr val="2B1E6B"/>
                </a:solidFill>
                <a:latin typeface="Cambria" pitchFamily="34" charset="0"/>
                <a:ea typeface="Cambria" pitchFamily="34" charset="-122"/>
                <a:cs typeface="Cambria" pitchFamily="34" charset="-120"/>
              </a:rPr>
              <a:t>2.28</a:t>
            </a:r>
            <a:endParaRPr lang="en-US" sz="2400" dirty="0"/>
          </a:p>
        </p:txBody>
      </p:sp>
      <p:sp>
        <p:nvSpPr>
          <p:cNvPr id="19" name="Text 14"/>
          <p:cNvSpPr/>
          <p:nvPr/>
        </p:nvSpPr>
        <p:spPr>
          <a:xfrm>
            <a:off x="8412480" y="3429000"/>
            <a:ext cx="3246120" cy="292608"/>
          </a:xfrm>
          <a:prstGeom prst="rect">
            <a:avLst/>
          </a:prstGeom>
          <a:noFill/>
          <a:ln/>
        </p:spPr>
        <p:txBody>
          <a:bodyPr wrap="square" rtlCol="0" anchor="ctr"/>
          <a:lstStyle/>
          <a:p>
            <a:pPr marL="0" indent="0">
              <a:buNone/>
            </a:pPr>
            <a:r>
              <a:rPr lang="en-US" sz="1050" dirty="0">
                <a:solidFill>
                  <a:srgbClr val="6B6B7D"/>
                </a:solidFill>
                <a:latin typeface="Calibri" pitchFamily="34" charset="0"/>
                <a:ea typeface="Calibri" pitchFamily="34" charset="-122"/>
                <a:cs typeface="Calibri" pitchFamily="34" charset="-120"/>
              </a:rPr>
              <a:t>Sessions per user</a:t>
            </a:r>
            <a:endParaRPr lang="en-US" sz="1050" dirty="0"/>
          </a:p>
        </p:txBody>
      </p:sp>
      <p:sp>
        <p:nvSpPr>
          <p:cNvPr id="20" name="Shape 15"/>
          <p:cNvSpPr/>
          <p:nvPr/>
        </p:nvSpPr>
        <p:spPr>
          <a:xfrm>
            <a:off x="548640" y="4014216"/>
            <a:ext cx="3611880" cy="1965960"/>
          </a:xfrm>
          <a:prstGeom prst="roundRect">
            <a:avLst>
              <a:gd name="adj" fmla="val 4651"/>
            </a:avLst>
          </a:prstGeom>
          <a:solidFill>
            <a:srgbClr val="FFFFFF"/>
          </a:solidFill>
          <a:ln/>
          <a:effectLst>
            <a:outerShdw blurRad="127000" dist="38100" dir="5400000" algn="bl" rotWithShape="0">
              <a:srgbClr val="5B4FA8">
                <a:alpha val="16000"/>
              </a:srgbClr>
            </a:outerShdw>
          </a:effectLst>
        </p:spPr>
        <p:txBody>
          <a:bodyPr/>
          <a:lstStyle/>
          <a:p>
            <a:endParaRPr lang="en-ZA"/>
          </a:p>
        </p:txBody>
      </p:sp>
      <p:sp>
        <p:nvSpPr>
          <p:cNvPr id="21" name="Shape 16"/>
          <p:cNvSpPr/>
          <p:nvPr/>
        </p:nvSpPr>
        <p:spPr>
          <a:xfrm>
            <a:off x="3593592" y="4178808"/>
            <a:ext cx="384048" cy="384048"/>
          </a:xfrm>
          <a:prstGeom prst="ellipse">
            <a:avLst/>
          </a:prstGeom>
          <a:solidFill>
            <a:srgbClr val="F5A623"/>
          </a:solidFill>
          <a:ln/>
        </p:spPr>
        <p:txBody>
          <a:bodyPr/>
          <a:lstStyle/>
          <a:p>
            <a:endParaRPr lang="en-ZA"/>
          </a:p>
        </p:txBody>
      </p:sp>
      <p:pic>
        <p:nvPicPr>
          <p:cNvPr id="22" name="Image 3" descr="/home/claude/assets/icon_trending_white.png"/>
          <p:cNvPicPr>
            <a:picLocks noChangeAspect="1"/>
          </p:cNvPicPr>
          <p:nvPr/>
        </p:nvPicPr>
        <p:blipFill>
          <a:blip r:embed="rId6"/>
          <a:stretch>
            <a:fillRect/>
          </a:stretch>
        </p:blipFill>
        <p:spPr>
          <a:xfrm>
            <a:off x="3643518" y="4228734"/>
            <a:ext cx="284196" cy="284196"/>
          </a:xfrm>
          <a:prstGeom prst="rect">
            <a:avLst/>
          </a:prstGeom>
        </p:spPr>
      </p:pic>
      <p:sp>
        <p:nvSpPr>
          <p:cNvPr id="23" name="Text 17"/>
          <p:cNvSpPr/>
          <p:nvPr/>
        </p:nvSpPr>
        <p:spPr>
          <a:xfrm>
            <a:off x="749808" y="5193792"/>
            <a:ext cx="3246120" cy="457200"/>
          </a:xfrm>
          <a:prstGeom prst="rect">
            <a:avLst/>
          </a:prstGeom>
          <a:noFill/>
          <a:ln/>
        </p:spPr>
        <p:txBody>
          <a:bodyPr wrap="square" rtlCol="0" anchor="ctr"/>
          <a:lstStyle/>
          <a:p>
            <a:pPr marL="0" indent="0">
              <a:buNone/>
            </a:pPr>
            <a:r>
              <a:rPr lang="en-US" sz="2400" b="1" dirty="0">
                <a:solidFill>
                  <a:srgbClr val="2B1E6B"/>
                </a:solidFill>
                <a:latin typeface="Cambria" pitchFamily="34" charset="0"/>
                <a:ea typeface="Cambria" pitchFamily="34" charset="-122"/>
                <a:cs typeface="Cambria" pitchFamily="34" charset="-120"/>
              </a:rPr>
              <a:t>1,673</a:t>
            </a:r>
            <a:endParaRPr lang="en-US" sz="2400" dirty="0"/>
          </a:p>
        </p:txBody>
      </p:sp>
      <p:sp>
        <p:nvSpPr>
          <p:cNvPr id="24" name="Text 18"/>
          <p:cNvSpPr/>
          <p:nvPr/>
        </p:nvSpPr>
        <p:spPr>
          <a:xfrm>
            <a:off x="749808" y="5614416"/>
            <a:ext cx="3246120" cy="292608"/>
          </a:xfrm>
          <a:prstGeom prst="rect">
            <a:avLst/>
          </a:prstGeom>
          <a:noFill/>
          <a:ln/>
        </p:spPr>
        <p:txBody>
          <a:bodyPr wrap="square" rtlCol="0" anchor="ctr"/>
          <a:lstStyle/>
          <a:p>
            <a:pPr marL="0" indent="0">
              <a:buNone/>
            </a:pPr>
            <a:r>
              <a:rPr lang="en-US" sz="1050" dirty="0">
                <a:solidFill>
                  <a:srgbClr val="6B6B7D"/>
                </a:solidFill>
                <a:latin typeface="Calibri" pitchFamily="34" charset="0"/>
                <a:ea typeface="Calibri" pitchFamily="34" charset="-122"/>
                <a:cs typeface="Calibri" pitchFamily="34" charset="-120"/>
              </a:rPr>
              <a:t>Friday sessions — busiest day</a:t>
            </a:r>
            <a:endParaRPr lang="en-US" sz="1050" dirty="0"/>
          </a:p>
        </p:txBody>
      </p:sp>
      <p:sp>
        <p:nvSpPr>
          <p:cNvPr id="25" name="Shape 19"/>
          <p:cNvSpPr/>
          <p:nvPr/>
        </p:nvSpPr>
        <p:spPr>
          <a:xfrm>
            <a:off x="4379976" y="4014216"/>
            <a:ext cx="3611880" cy="1965960"/>
          </a:xfrm>
          <a:prstGeom prst="roundRect">
            <a:avLst>
              <a:gd name="adj" fmla="val 4651"/>
            </a:avLst>
          </a:prstGeom>
          <a:solidFill>
            <a:srgbClr val="FFFFFF"/>
          </a:solidFill>
          <a:ln/>
          <a:effectLst>
            <a:outerShdw blurRad="127000" dist="38100" dir="5400000" algn="bl" rotWithShape="0">
              <a:srgbClr val="5B4FA8">
                <a:alpha val="16000"/>
              </a:srgbClr>
            </a:outerShdw>
          </a:effectLst>
        </p:spPr>
        <p:txBody>
          <a:bodyPr/>
          <a:lstStyle/>
          <a:p>
            <a:endParaRPr lang="en-ZA"/>
          </a:p>
        </p:txBody>
      </p:sp>
      <p:sp>
        <p:nvSpPr>
          <p:cNvPr id="26" name="Shape 20"/>
          <p:cNvSpPr/>
          <p:nvPr/>
        </p:nvSpPr>
        <p:spPr>
          <a:xfrm>
            <a:off x="7424928" y="4178808"/>
            <a:ext cx="384048" cy="384048"/>
          </a:xfrm>
          <a:prstGeom prst="ellipse">
            <a:avLst/>
          </a:prstGeom>
          <a:solidFill>
            <a:srgbClr val="FF6B4A"/>
          </a:solidFill>
          <a:ln/>
        </p:spPr>
        <p:txBody>
          <a:bodyPr/>
          <a:lstStyle/>
          <a:p>
            <a:endParaRPr lang="en-ZA"/>
          </a:p>
        </p:txBody>
      </p:sp>
      <p:pic>
        <p:nvPicPr>
          <p:cNvPr id="27" name="Image 4" descr="/home/claude/assets/icon_calendar_white.png"/>
          <p:cNvPicPr>
            <a:picLocks noChangeAspect="1"/>
          </p:cNvPicPr>
          <p:nvPr/>
        </p:nvPicPr>
        <p:blipFill>
          <a:blip r:embed="rId7"/>
          <a:stretch>
            <a:fillRect/>
          </a:stretch>
        </p:blipFill>
        <p:spPr>
          <a:xfrm>
            <a:off x="7474854" y="4228734"/>
            <a:ext cx="284196" cy="284196"/>
          </a:xfrm>
          <a:prstGeom prst="rect">
            <a:avLst/>
          </a:prstGeom>
        </p:spPr>
      </p:pic>
      <p:sp>
        <p:nvSpPr>
          <p:cNvPr id="28" name="Text 21"/>
          <p:cNvSpPr/>
          <p:nvPr/>
        </p:nvSpPr>
        <p:spPr>
          <a:xfrm>
            <a:off x="4581144" y="5193792"/>
            <a:ext cx="3246120" cy="457200"/>
          </a:xfrm>
          <a:prstGeom prst="rect">
            <a:avLst/>
          </a:prstGeom>
          <a:noFill/>
          <a:ln/>
        </p:spPr>
        <p:txBody>
          <a:bodyPr wrap="square" rtlCol="0" anchor="ctr"/>
          <a:lstStyle/>
          <a:p>
            <a:pPr marL="0" indent="0">
              <a:buNone/>
            </a:pPr>
            <a:r>
              <a:rPr lang="en-US" sz="2400" b="1" dirty="0">
                <a:solidFill>
                  <a:srgbClr val="2B1E6B"/>
                </a:solidFill>
                <a:latin typeface="Cambria" pitchFamily="34" charset="0"/>
                <a:ea typeface="Cambria" pitchFamily="34" charset="-122"/>
                <a:cs typeface="Cambria" pitchFamily="34" charset="-120"/>
              </a:rPr>
              <a:t>956</a:t>
            </a:r>
            <a:endParaRPr lang="en-US" sz="2400" dirty="0"/>
          </a:p>
        </p:txBody>
      </p:sp>
      <p:sp>
        <p:nvSpPr>
          <p:cNvPr id="29" name="Text 22"/>
          <p:cNvSpPr/>
          <p:nvPr/>
        </p:nvSpPr>
        <p:spPr>
          <a:xfrm>
            <a:off x="4581144" y="5614416"/>
            <a:ext cx="3246120" cy="292608"/>
          </a:xfrm>
          <a:prstGeom prst="rect">
            <a:avLst/>
          </a:prstGeom>
          <a:noFill/>
          <a:ln/>
        </p:spPr>
        <p:txBody>
          <a:bodyPr wrap="square" rtlCol="0" anchor="ctr"/>
          <a:lstStyle/>
          <a:p>
            <a:pPr marL="0" indent="0">
              <a:buNone/>
            </a:pPr>
            <a:r>
              <a:rPr lang="en-US" sz="1050" dirty="0">
                <a:solidFill>
                  <a:srgbClr val="6B6B7D"/>
                </a:solidFill>
                <a:latin typeface="Calibri" pitchFamily="34" charset="0"/>
                <a:ea typeface="Calibri" pitchFamily="34" charset="-122"/>
                <a:cs typeface="Calibri" pitchFamily="34" charset="-120"/>
              </a:rPr>
              <a:t>Monday sessions — quietest day</a:t>
            </a:r>
            <a:endParaRPr lang="en-US" sz="1050" dirty="0"/>
          </a:p>
        </p:txBody>
      </p:sp>
      <p:sp>
        <p:nvSpPr>
          <p:cNvPr id="30" name="Shape 23"/>
          <p:cNvSpPr/>
          <p:nvPr/>
        </p:nvSpPr>
        <p:spPr>
          <a:xfrm>
            <a:off x="8211312" y="4014216"/>
            <a:ext cx="3611880" cy="1965960"/>
          </a:xfrm>
          <a:prstGeom prst="roundRect">
            <a:avLst>
              <a:gd name="adj" fmla="val 4651"/>
            </a:avLst>
          </a:prstGeom>
          <a:solidFill>
            <a:srgbClr val="FFFFFF"/>
          </a:solidFill>
          <a:ln/>
          <a:effectLst>
            <a:outerShdw blurRad="127000" dist="38100" dir="5400000" algn="bl" rotWithShape="0">
              <a:srgbClr val="5B4FA8">
                <a:alpha val="16000"/>
              </a:srgbClr>
            </a:outerShdw>
          </a:effectLst>
        </p:spPr>
        <p:txBody>
          <a:bodyPr/>
          <a:lstStyle/>
          <a:p>
            <a:endParaRPr lang="en-ZA"/>
          </a:p>
        </p:txBody>
      </p:sp>
      <p:sp>
        <p:nvSpPr>
          <p:cNvPr id="31" name="Shape 24"/>
          <p:cNvSpPr/>
          <p:nvPr/>
        </p:nvSpPr>
        <p:spPr>
          <a:xfrm>
            <a:off x="11256264" y="4178808"/>
            <a:ext cx="384048" cy="384048"/>
          </a:xfrm>
          <a:prstGeom prst="ellipse">
            <a:avLst/>
          </a:prstGeom>
          <a:solidFill>
            <a:srgbClr val="8A7FE0"/>
          </a:solidFill>
          <a:ln/>
        </p:spPr>
        <p:txBody>
          <a:bodyPr/>
          <a:lstStyle/>
          <a:p>
            <a:endParaRPr lang="en-ZA"/>
          </a:p>
        </p:txBody>
      </p:sp>
      <p:pic>
        <p:nvPicPr>
          <p:cNvPr id="32" name="Image 5" descr="/home/claude/assets/icon_clock_white.png"/>
          <p:cNvPicPr>
            <a:picLocks noChangeAspect="1"/>
          </p:cNvPicPr>
          <p:nvPr/>
        </p:nvPicPr>
        <p:blipFill>
          <a:blip r:embed="rId8"/>
          <a:stretch>
            <a:fillRect/>
          </a:stretch>
        </p:blipFill>
        <p:spPr>
          <a:xfrm>
            <a:off x="11306190" y="4228734"/>
            <a:ext cx="284196" cy="284196"/>
          </a:xfrm>
          <a:prstGeom prst="rect">
            <a:avLst/>
          </a:prstGeom>
        </p:spPr>
      </p:pic>
      <p:sp>
        <p:nvSpPr>
          <p:cNvPr id="33" name="Text 25"/>
          <p:cNvSpPr/>
          <p:nvPr/>
        </p:nvSpPr>
        <p:spPr>
          <a:xfrm>
            <a:off x="8412480" y="5193792"/>
            <a:ext cx="3246120" cy="457200"/>
          </a:xfrm>
          <a:prstGeom prst="rect">
            <a:avLst/>
          </a:prstGeom>
          <a:noFill/>
          <a:ln/>
        </p:spPr>
        <p:txBody>
          <a:bodyPr wrap="square" rtlCol="0" anchor="ctr"/>
          <a:lstStyle/>
          <a:p>
            <a:pPr marL="0" indent="0">
              <a:buNone/>
            </a:pPr>
            <a:r>
              <a:rPr lang="en-US" sz="2400" b="1" dirty="0">
                <a:solidFill>
                  <a:srgbClr val="2B1E6B"/>
                </a:solidFill>
                <a:latin typeface="Cambria" pitchFamily="34" charset="0"/>
                <a:ea typeface="Cambria" pitchFamily="34" charset="-122"/>
                <a:cs typeface="Cambria" pitchFamily="34" charset="-120"/>
              </a:rPr>
              <a:t>17:00</a:t>
            </a:r>
            <a:endParaRPr lang="en-US" sz="2400" dirty="0"/>
          </a:p>
        </p:txBody>
      </p:sp>
      <p:sp>
        <p:nvSpPr>
          <p:cNvPr id="34" name="Text 26"/>
          <p:cNvSpPr/>
          <p:nvPr/>
        </p:nvSpPr>
        <p:spPr>
          <a:xfrm>
            <a:off x="8412480" y="5614416"/>
            <a:ext cx="3246120" cy="292608"/>
          </a:xfrm>
          <a:prstGeom prst="rect">
            <a:avLst/>
          </a:prstGeom>
          <a:noFill/>
          <a:ln/>
        </p:spPr>
        <p:txBody>
          <a:bodyPr wrap="square" rtlCol="0" anchor="ctr"/>
          <a:lstStyle/>
          <a:p>
            <a:pPr marL="0" indent="0">
              <a:buNone/>
            </a:pPr>
            <a:r>
              <a:rPr lang="en-US" sz="1050" dirty="0">
                <a:solidFill>
                  <a:srgbClr val="6B6B7D"/>
                </a:solidFill>
                <a:latin typeface="Calibri" pitchFamily="34" charset="0"/>
                <a:ea typeface="Calibri" pitchFamily="34" charset="-122"/>
                <a:cs typeface="Calibri" pitchFamily="34" charset="-120"/>
              </a:rPr>
              <a:t>Peak viewing hour, SA time</a:t>
            </a:r>
            <a:endParaRPr lang="en-US" sz="1050" dirty="0"/>
          </a:p>
        </p:txBody>
      </p:sp>
      <p:sp>
        <p:nvSpPr>
          <p:cNvPr id="36" name="Text 27"/>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37" name="Text 28"/>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WHO'S WATCHING</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A Strongly Male-Skewed Audience</a:t>
            </a:r>
            <a:endParaRPr lang="en-US" sz="3200" dirty="0"/>
          </a:p>
        </p:txBody>
      </p:sp>
      <p:graphicFrame>
        <p:nvGraphicFramePr>
          <p:cNvPr id="4" name="Chart 0"/>
          <p:cNvGraphicFramePr/>
          <p:nvPr/>
        </p:nvGraphicFramePr>
        <p:xfrm>
          <a:off x="640080" y="1691640"/>
          <a:ext cx="49377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943600" y="1691640"/>
            <a:ext cx="5669280" cy="1417320"/>
          </a:xfrm>
          <a:prstGeom prst="roundRect">
            <a:avLst>
              <a:gd name="adj" fmla="val 6452"/>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6" name="Text 3"/>
          <p:cNvSpPr/>
          <p:nvPr/>
        </p:nvSpPr>
        <p:spPr>
          <a:xfrm>
            <a:off x="6217920" y="1810512"/>
            <a:ext cx="2011680" cy="548640"/>
          </a:xfrm>
          <a:prstGeom prst="rect">
            <a:avLst/>
          </a:prstGeom>
          <a:noFill/>
          <a:ln/>
        </p:spPr>
        <p:txBody>
          <a:bodyPr wrap="square" rtlCol="0" anchor="ctr"/>
          <a:lstStyle/>
          <a:p>
            <a:pPr marL="0" indent="0">
              <a:buNone/>
            </a:pPr>
            <a:r>
              <a:rPr lang="en-US" sz="3000" b="1" dirty="0">
                <a:solidFill>
                  <a:srgbClr val="2B1E6B"/>
                </a:solidFill>
                <a:latin typeface="Cambria" pitchFamily="34" charset="0"/>
                <a:ea typeface="Cambria" pitchFamily="34" charset="-122"/>
                <a:cs typeface="Cambria" pitchFamily="34" charset="-120"/>
              </a:rPr>
              <a:t>84.9%</a:t>
            </a:r>
            <a:endParaRPr lang="en-US" sz="3000" dirty="0"/>
          </a:p>
        </p:txBody>
      </p:sp>
      <p:sp>
        <p:nvSpPr>
          <p:cNvPr id="7" name="Text 4"/>
          <p:cNvSpPr/>
          <p:nvPr/>
        </p:nvSpPr>
        <p:spPr>
          <a:xfrm>
            <a:off x="6217920" y="2395728"/>
            <a:ext cx="3291840" cy="548640"/>
          </a:xfrm>
          <a:prstGeom prst="rect">
            <a:avLst/>
          </a:prstGeom>
          <a:noFill/>
          <a:ln/>
        </p:spPr>
        <p:txBody>
          <a:bodyPr wrap="square" rtlCol="0" anchor="ctr"/>
          <a:lstStyle/>
          <a:p>
            <a:pPr marL="0" indent="0">
              <a:buNone/>
            </a:pPr>
            <a:r>
              <a:rPr lang="en-US" sz="1250" dirty="0">
                <a:solidFill>
                  <a:srgbClr val="6B6B7D"/>
                </a:solidFill>
                <a:latin typeface="Calibri" pitchFamily="34" charset="0"/>
                <a:ea typeface="Calibri" pitchFamily="34" charset="-122"/>
                <a:cs typeface="Calibri" pitchFamily="34" charset="-120"/>
              </a:rPr>
              <a:t>of the audience is male</a:t>
            </a:r>
            <a:endParaRPr lang="en-US" sz="1250" dirty="0"/>
          </a:p>
        </p:txBody>
      </p:sp>
      <p:sp>
        <p:nvSpPr>
          <p:cNvPr id="8" name="Shape 5"/>
          <p:cNvSpPr/>
          <p:nvPr/>
        </p:nvSpPr>
        <p:spPr>
          <a:xfrm>
            <a:off x="9966960" y="1920240"/>
            <a:ext cx="822960" cy="822960"/>
          </a:xfrm>
          <a:prstGeom prst="ellipse">
            <a:avLst/>
          </a:prstGeom>
          <a:solidFill>
            <a:srgbClr val="2B1E6B"/>
          </a:solidFill>
          <a:ln/>
        </p:spPr>
        <p:txBody>
          <a:bodyPr/>
          <a:lstStyle/>
          <a:p>
            <a:endParaRPr lang="en-ZA"/>
          </a:p>
        </p:txBody>
      </p:sp>
      <p:pic>
        <p:nvPicPr>
          <p:cNvPr id="9" name="Image 0" descr="/home/claude/assets/icon_user_white.png"/>
          <p:cNvPicPr>
            <a:picLocks noChangeAspect="1"/>
          </p:cNvPicPr>
          <p:nvPr/>
        </p:nvPicPr>
        <p:blipFill>
          <a:blip r:embed="rId4"/>
          <a:stretch>
            <a:fillRect/>
          </a:stretch>
        </p:blipFill>
        <p:spPr>
          <a:xfrm>
            <a:off x="10073945" y="2027225"/>
            <a:ext cx="608990" cy="608990"/>
          </a:xfrm>
          <a:prstGeom prst="rect">
            <a:avLst/>
          </a:prstGeom>
        </p:spPr>
      </p:pic>
      <p:sp>
        <p:nvSpPr>
          <p:cNvPr id="10" name="Shape 6"/>
          <p:cNvSpPr/>
          <p:nvPr/>
        </p:nvSpPr>
        <p:spPr>
          <a:xfrm>
            <a:off x="5943600" y="3291840"/>
            <a:ext cx="5669280" cy="1417320"/>
          </a:xfrm>
          <a:prstGeom prst="roundRect">
            <a:avLst>
              <a:gd name="adj" fmla="val 6452"/>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1" name="Text 7"/>
          <p:cNvSpPr/>
          <p:nvPr/>
        </p:nvSpPr>
        <p:spPr>
          <a:xfrm>
            <a:off x="6217920" y="3410712"/>
            <a:ext cx="2011680" cy="548640"/>
          </a:xfrm>
          <a:prstGeom prst="rect">
            <a:avLst/>
          </a:prstGeom>
          <a:noFill/>
          <a:ln/>
        </p:spPr>
        <p:txBody>
          <a:bodyPr wrap="square" rtlCol="0" anchor="ctr"/>
          <a:lstStyle/>
          <a:p>
            <a:pPr marL="0" indent="0">
              <a:buNone/>
            </a:pPr>
            <a:r>
              <a:rPr lang="en-US" sz="3000" b="1" dirty="0">
                <a:solidFill>
                  <a:srgbClr val="F5A623"/>
                </a:solidFill>
                <a:latin typeface="Cambria" pitchFamily="34" charset="0"/>
                <a:ea typeface="Cambria" pitchFamily="34" charset="-122"/>
                <a:cs typeface="Cambria" pitchFamily="34" charset="-120"/>
              </a:rPr>
              <a:t>11.1%</a:t>
            </a:r>
            <a:endParaRPr lang="en-US" sz="3000" dirty="0"/>
          </a:p>
        </p:txBody>
      </p:sp>
      <p:sp>
        <p:nvSpPr>
          <p:cNvPr id="12" name="Text 8"/>
          <p:cNvSpPr/>
          <p:nvPr/>
        </p:nvSpPr>
        <p:spPr>
          <a:xfrm>
            <a:off x="6217920" y="3995928"/>
            <a:ext cx="3291840" cy="548640"/>
          </a:xfrm>
          <a:prstGeom prst="rect">
            <a:avLst/>
          </a:prstGeom>
          <a:noFill/>
          <a:ln/>
        </p:spPr>
        <p:txBody>
          <a:bodyPr wrap="square" rtlCol="0" anchor="ctr"/>
          <a:lstStyle/>
          <a:p>
            <a:pPr marL="0" indent="0">
              <a:buNone/>
            </a:pPr>
            <a:r>
              <a:rPr lang="en-US" sz="1250" dirty="0">
                <a:solidFill>
                  <a:srgbClr val="6B6B7D"/>
                </a:solidFill>
                <a:latin typeface="Calibri" pitchFamily="34" charset="0"/>
                <a:ea typeface="Calibri" pitchFamily="34" charset="-122"/>
                <a:cs typeface="Calibri" pitchFamily="34" charset="-120"/>
              </a:rPr>
              <a:t>of the audience is female</a:t>
            </a:r>
            <a:endParaRPr lang="en-US" sz="1250" dirty="0"/>
          </a:p>
        </p:txBody>
      </p:sp>
      <p:sp>
        <p:nvSpPr>
          <p:cNvPr id="13" name="Shape 9"/>
          <p:cNvSpPr/>
          <p:nvPr/>
        </p:nvSpPr>
        <p:spPr>
          <a:xfrm>
            <a:off x="9966960" y="3520440"/>
            <a:ext cx="822960" cy="822960"/>
          </a:xfrm>
          <a:prstGeom prst="ellipse">
            <a:avLst/>
          </a:prstGeom>
          <a:solidFill>
            <a:srgbClr val="F5A623"/>
          </a:solidFill>
          <a:ln/>
        </p:spPr>
        <p:txBody>
          <a:bodyPr/>
          <a:lstStyle/>
          <a:p>
            <a:endParaRPr lang="en-ZA"/>
          </a:p>
        </p:txBody>
      </p:sp>
      <p:pic>
        <p:nvPicPr>
          <p:cNvPr id="14" name="Image 1" descr="/home/claude/assets/icon_heart_white.png"/>
          <p:cNvPicPr>
            <a:picLocks noChangeAspect="1"/>
          </p:cNvPicPr>
          <p:nvPr/>
        </p:nvPicPr>
        <p:blipFill>
          <a:blip r:embed="rId5"/>
          <a:stretch>
            <a:fillRect/>
          </a:stretch>
        </p:blipFill>
        <p:spPr>
          <a:xfrm>
            <a:off x="10073945" y="3627425"/>
            <a:ext cx="608990" cy="608990"/>
          </a:xfrm>
          <a:prstGeom prst="rect">
            <a:avLst/>
          </a:prstGeom>
        </p:spPr>
      </p:pic>
      <p:sp>
        <p:nvSpPr>
          <p:cNvPr id="15" name="Shape 10"/>
          <p:cNvSpPr/>
          <p:nvPr/>
        </p:nvSpPr>
        <p:spPr>
          <a:xfrm>
            <a:off x="5943600" y="4937760"/>
            <a:ext cx="5669280" cy="868680"/>
          </a:xfrm>
          <a:prstGeom prst="roundRect">
            <a:avLst>
              <a:gd name="adj" fmla="val 8421"/>
            </a:avLst>
          </a:prstGeom>
          <a:solidFill>
            <a:srgbClr val="ECE9FB"/>
          </a:solidFill>
          <a:ln/>
        </p:spPr>
        <p:txBody>
          <a:bodyPr/>
          <a:lstStyle/>
          <a:p>
            <a:endParaRPr lang="en-ZA"/>
          </a:p>
        </p:txBody>
      </p:sp>
      <p:pic>
        <p:nvPicPr>
          <p:cNvPr id="16" name="Image 2" descr="/home/claude/assets/icon_alert_coral.png"/>
          <p:cNvPicPr>
            <a:picLocks noChangeAspect="1"/>
          </p:cNvPicPr>
          <p:nvPr/>
        </p:nvPicPr>
        <p:blipFill>
          <a:blip r:embed="rId6"/>
          <a:stretch>
            <a:fillRect/>
          </a:stretch>
        </p:blipFill>
        <p:spPr>
          <a:xfrm>
            <a:off x="6126480" y="5216652"/>
            <a:ext cx="310896" cy="310896"/>
          </a:xfrm>
          <a:prstGeom prst="rect">
            <a:avLst/>
          </a:prstGeom>
        </p:spPr>
      </p:pic>
      <p:sp>
        <p:nvSpPr>
          <p:cNvPr id="17" name="Text 11"/>
          <p:cNvSpPr/>
          <p:nvPr/>
        </p:nvSpPr>
        <p:spPr>
          <a:xfrm>
            <a:off x="6547104" y="4937760"/>
            <a:ext cx="4846320" cy="868680"/>
          </a:xfrm>
          <a:prstGeom prst="rect">
            <a:avLst/>
          </a:prstGeom>
          <a:noFill/>
          <a:ln/>
        </p:spPr>
        <p:txBody>
          <a:bodyPr wrap="square" rtlCol="0" anchor="ctr"/>
          <a:lstStyle/>
          <a:p>
            <a:pPr marL="0" indent="0">
              <a:buNone/>
            </a:pPr>
            <a:r>
              <a:rPr lang="en-US" sz="1250" dirty="0">
                <a:solidFill>
                  <a:srgbClr val="2A2A3C"/>
                </a:solidFill>
                <a:latin typeface="Calibri" pitchFamily="34" charset="0"/>
                <a:ea typeface="Calibri" pitchFamily="34" charset="-122"/>
                <a:cs typeface="Calibri" pitchFamily="34" charset="-120"/>
              </a:rPr>
              <a:t>Female viewers are under 12% of the base — a clear acquisition opportunity for growth campaigns.</a:t>
            </a:r>
            <a:endParaRPr lang="en-US" sz="1250" dirty="0"/>
          </a:p>
        </p:txBody>
      </p:sp>
      <p:sp>
        <p:nvSpPr>
          <p:cNvPr id="19" name="Text 12"/>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20" name="Text 13"/>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WHO'S WATCHING</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Core Audience Is 25–44</a:t>
            </a:r>
            <a:endParaRPr lang="en-US" sz="3200" dirty="0"/>
          </a:p>
        </p:txBody>
      </p:sp>
      <p:graphicFrame>
        <p:nvGraphicFramePr>
          <p:cNvPr id="4" name="Chart 0"/>
          <p:cNvGraphicFramePr/>
          <p:nvPr/>
        </p:nvGraphicFramePr>
        <p:xfrm>
          <a:off x="457200" y="1691640"/>
          <a:ext cx="69494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635240" y="1691640"/>
            <a:ext cx="4023360" cy="1920240"/>
          </a:xfrm>
          <a:prstGeom prst="roundRect">
            <a:avLst>
              <a:gd name="adj" fmla="val 4762"/>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6" name="Text 3"/>
          <p:cNvSpPr/>
          <p:nvPr/>
        </p:nvSpPr>
        <p:spPr>
          <a:xfrm>
            <a:off x="7863840" y="1828800"/>
            <a:ext cx="3566160" cy="502920"/>
          </a:xfrm>
          <a:prstGeom prst="rect">
            <a:avLst/>
          </a:prstGeom>
          <a:noFill/>
          <a:ln/>
        </p:spPr>
        <p:txBody>
          <a:bodyPr wrap="square" rtlCol="0" anchor="ctr"/>
          <a:lstStyle/>
          <a:p>
            <a:pPr marL="0" indent="0">
              <a:buNone/>
            </a:pPr>
            <a:r>
              <a:rPr lang="en-US" sz="2600" b="1" dirty="0">
                <a:solidFill>
                  <a:srgbClr val="2B1E6B"/>
                </a:solidFill>
                <a:latin typeface="Cambria" pitchFamily="34" charset="0"/>
                <a:ea typeface="Cambria" pitchFamily="34" charset="-122"/>
                <a:cs typeface="Cambria" pitchFamily="34" charset="-120"/>
              </a:rPr>
              <a:t>40.56%</a:t>
            </a:r>
            <a:endParaRPr lang="en-US" sz="2600" dirty="0"/>
          </a:p>
        </p:txBody>
      </p:sp>
      <p:sp>
        <p:nvSpPr>
          <p:cNvPr id="7" name="Text 4"/>
          <p:cNvSpPr/>
          <p:nvPr/>
        </p:nvSpPr>
        <p:spPr>
          <a:xfrm>
            <a:off x="7863840" y="2395728"/>
            <a:ext cx="3566160" cy="1005840"/>
          </a:xfrm>
          <a:prstGeom prst="rect">
            <a:avLst/>
          </a:prstGeom>
          <a:noFill/>
          <a:ln/>
        </p:spPr>
        <p:txBody>
          <a:bodyPr wrap="square" rtlCol="0" anchor="ctr"/>
          <a:lstStyle/>
          <a:p>
            <a:pPr marL="0" indent="0">
              <a:lnSpc>
                <a:spcPts val="1600"/>
              </a:lnSpc>
              <a:buNone/>
            </a:pPr>
            <a:r>
              <a:rPr lang="en-US" sz="1200" dirty="0">
                <a:solidFill>
                  <a:srgbClr val="6B6B7D"/>
                </a:solidFill>
                <a:latin typeface="Calibri" pitchFamily="34" charset="0"/>
                <a:ea typeface="Calibri" pitchFamily="34" charset="-122"/>
                <a:cs typeface="Calibri" pitchFamily="34" charset="-120"/>
              </a:rPr>
              <a:t>are aged 25–34 — the single largest segment</a:t>
            </a:r>
            <a:endParaRPr lang="en-US" sz="1200" dirty="0"/>
          </a:p>
        </p:txBody>
      </p:sp>
      <p:sp>
        <p:nvSpPr>
          <p:cNvPr id="8" name="Shape 5"/>
          <p:cNvSpPr/>
          <p:nvPr/>
        </p:nvSpPr>
        <p:spPr>
          <a:xfrm>
            <a:off x="7635240" y="3794760"/>
            <a:ext cx="4023360" cy="1920240"/>
          </a:xfrm>
          <a:prstGeom prst="roundRect">
            <a:avLst>
              <a:gd name="adj" fmla="val 4762"/>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9" name="Text 6"/>
          <p:cNvSpPr/>
          <p:nvPr/>
        </p:nvSpPr>
        <p:spPr>
          <a:xfrm>
            <a:off x="7863840" y="3931920"/>
            <a:ext cx="3566160" cy="502920"/>
          </a:xfrm>
          <a:prstGeom prst="rect">
            <a:avLst/>
          </a:prstGeom>
          <a:noFill/>
          <a:ln/>
        </p:spPr>
        <p:txBody>
          <a:bodyPr wrap="square" rtlCol="0" anchor="ctr"/>
          <a:lstStyle/>
          <a:p>
            <a:pPr marL="0" indent="0">
              <a:buNone/>
            </a:pPr>
            <a:r>
              <a:rPr lang="en-US" sz="2600" b="1" dirty="0">
                <a:solidFill>
                  <a:srgbClr val="F5A623"/>
                </a:solidFill>
                <a:latin typeface="Cambria" pitchFamily="34" charset="0"/>
                <a:ea typeface="Cambria" pitchFamily="34" charset="-122"/>
                <a:cs typeface="Cambria" pitchFamily="34" charset="-120"/>
              </a:rPr>
              <a:t>67.53%</a:t>
            </a:r>
            <a:endParaRPr lang="en-US" sz="2600" dirty="0"/>
          </a:p>
        </p:txBody>
      </p:sp>
      <p:sp>
        <p:nvSpPr>
          <p:cNvPr id="10" name="Text 7"/>
          <p:cNvSpPr/>
          <p:nvPr/>
        </p:nvSpPr>
        <p:spPr>
          <a:xfrm>
            <a:off x="7863840" y="4498848"/>
            <a:ext cx="3566160" cy="1005840"/>
          </a:xfrm>
          <a:prstGeom prst="rect">
            <a:avLst/>
          </a:prstGeom>
          <a:noFill/>
          <a:ln/>
        </p:spPr>
        <p:txBody>
          <a:bodyPr wrap="square" rtlCol="0" anchor="ctr"/>
          <a:lstStyle/>
          <a:p>
            <a:pPr marL="0" indent="0">
              <a:lnSpc>
                <a:spcPts val="1600"/>
              </a:lnSpc>
              <a:buNone/>
            </a:pPr>
            <a:r>
              <a:rPr lang="en-US" sz="1200" dirty="0">
                <a:solidFill>
                  <a:srgbClr val="6B6B7D"/>
                </a:solidFill>
                <a:latin typeface="Calibri" pitchFamily="34" charset="0"/>
                <a:ea typeface="Calibri" pitchFamily="34" charset="-122"/>
                <a:cs typeface="Calibri" pitchFamily="34" charset="-120"/>
              </a:rPr>
              <a:t>of all users fall in the combined 25–44 core demographic</a:t>
            </a:r>
            <a:endParaRPr lang="en-US" sz="1200" dirty="0"/>
          </a:p>
        </p:txBody>
      </p:sp>
      <p:sp>
        <p:nvSpPr>
          <p:cNvPr id="12" name="Text 8"/>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3" name="Text 9"/>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WHERE THEY'RE WATCHING FROM</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Gauteng Leads, But Reach Is National</a:t>
            </a:r>
            <a:endParaRPr lang="en-US" sz="3200" dirty="0"/>
          </a:p>
        </p:txBody>
      </p:sp>
      <p:graphicFrame>
        <p:nvGraphicFramePr>
          <p:cNvPr id="4" name="Chart 0"/>
          <p:cNvGraphicFramePr/>
          <p:nvPr/>
        </p:nvGraphicFramePr>
        <p:xfrm>
          <a:off x="457200" y="1600200"/>
          <a:ext cx="795528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95360" y="1600200"/>
            <a:ext cx="3063240" cy="2148840"/>
          </a:xfrm>
          <a:prstGeom prst="roundRect">
            <a:avLst>
              <a:gd name="adj" fmla="val 4255"/>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6" name="Shape 3"/>
          <p:cNvSpPr/>
          <p:nvPr/>
        </p:nvSpPr>
        <p:spPr>
          <a:xfrm>
            <a:off x="8823960" y="1810512"/>
            <a:ext cx="457200" cy="457200"/>
          </a:xfrm>
          <a:prstGeom prst="ellipse">
            <a:avLst/>
          </a:prstGeom>
          <a:solidFill>
            <a:srgbClr val="F5A623"/>
          </a:solidFill>
          <a:ln/>
        </p:spPr>
        <p:txBody>
          <a:bodyPr/>
          <a:lstStyle/>
          <a:p>
            <a:endParaRPr lang="en-ZA"/>
          </a:p>
        </p:txBody>
      </p:sp>
      <p:pic>
        <p:nvPicPr>
          <p:cNvPr id="7" name="Image 0" descr="/home/claude/assets/icon_mappin_white.png"/>
          <p:cNvPicPr>
            <a:picLocks noChangeAspect="1"/>
          </p:cNvPicPr>
          <p:nvPr/>
        </p:nvPicPr>
        <p:blipFill>
          <a:blip r:embed="rId4"/>
          <a:stretch>
            <a:fillRect/>
          </a:stretch>
        </p:blipFill>
        <p:spPr>
          <a:xfrm>
            <a:off x="8883396" y="1869948"/>
            <a:ext cx="338328" cy="338328"/>
          </a:xfrm>
          <a:prstGeom prst="rect">
            <a:avLst/>
          </a:prstGeom>
        </p:spPr>
      </p:pic>
      <p:sp>
        <p:nvSpPr>
          <p:cNvPr id="8" name="Text 4"/>
          <p:cNvSpPr/>
          <p:nvPr/>
        </p:nvSpPr>
        <p:spPr>
          <a:xfrm>
            <a:off x="8823960" y="2395728"/>
            <a:ext cx="2651760" cy="411480"/>
          </a:xfrm>
          <a:prstGeom prst="rect">
            <a:avLst/>
          </a:prstGeom>
          <a:noFill/>
          <a:ln/>
        </p:spPr>
        <p:txBody>
          <a:bodyPr wrap="square" rtlCol="0" anchor="ctr"/>
          <a:lstStyle/>
          <a:p>
            <a:pPr marL="0" indent="0">
              <a:buNone/>
            </a:pPr>
            <a:r>
              <a:rPr lang="en-US" sz="1900" b="1" dirty="0">
                <a:solidFill>
                  <a:srgbClr val="2B1E6B"/>
                </a:solidFill>
                <a:latin typeface="Cambria" pitchFamily="34" charset="0"/>
                <a:ea typeface="Cambria" pitchFamily="34" charset="-122"/>
                <a:cs typeface="Cambria" pitchFamily="34" charset="-120"/>
              </a:rPr>
              <a:t>1,607 users</a:t>
            </a:r>
            <a:endParaRPr lang="en-US" sz="1900" dirty="0"/>
          </a:p>
        </p:txBody>
      </p:sp>
      <p:sp>
        <p:nvSpPr>
          <p:cNvPr id="9" name="Text 5"/>
          <p:cNvSpPr/>
          <p:nvPr/>
        </p:nvSpPr>
        <p:spPr>
          <a:xfrm>
            <a:off x="8823960" y="2816352"/>
            <a:ext cx="2651760" cy="822960"/>
          </a:xfrm>
          <a:prstGeom prst="rect">
            <a:avLst/>
          </a:prstGeom>
          <a:noFill/>
          <a:ln/>
        </p:spPr>
        <p:txBody>
          <a:bodyPr wrap="square" rtlCol="0" anchor="ctr"/>
          <a:lstStyle/>
          <a:p>
            <a:pPr marL="0" indent="0">
              <a:lnSpc>
                <a:spcPts val="1500"/>
              </a:lnSpc>
              <a:buNone/>
            </a:pPr>
            <a:r>
              <a:rPr lang="en-US" sz="1150" dirty="0">
                <a:solidFill>
                  <a:srgbClr val="6B6B7D"/>
                </a:solidFill>
                <a:latin typeface="Calibri" pitchFamily="34" charset="0"/>
                <a:ea typeface="Calibri" pitchFamily="34" charset="-122"/>
                <a:cs typeface="Calibri" pitchFamily="34" charset="-120"/>
              </a:rPr>
              <a:t>Gauteng is BrightTV's largest observed audience base</a:t>
            </a:r>
            <a:endParaRPr lang="en-US" sz="1150" dirty="0"/>
          </a:p>
        </p:txBody>
      </p:sp>
      <p:sp>
        <p:nvSpPr>
          <p:cNvPr id="10" name="Shape 6"/>
          <p:cNvSpPr/>
          <p:nvPr/>
        </p:nvSpPr>
        <p:spPr>
          <a:xfrm>
            <a:off x="8595360" y="3931920"/>
            <a:ext cx="3063240" cy="2286000"/>
          </a:xfrm>
          <a:prstGeom prst="roundRect">
            <a:avLst>
              <a:gd name="adj" fmla="val 3200"/>
            </a:avLst>
          </a:prstGeom>
          <a:solidFill>
            <a:srgbClr val="ECE9FB"/>
          </a:solidFill>
          <a:ln/>
        </p:spPr>
        <p:txBody>
          <a:bodyPr/>
          <a:lstStyle/>
          <a:p>
            <a:endParaRPr lang="en-ZA"/>
          </a:p>
        </p:txBody>
      </p:sp>
      <p:pic>
        <p:nvPicPr>
          <p:cNvPr id="11" name="Image 1" descr="/home/claude/assets/icon_globe_indigo.png"/>
          <p:cNvPicPr>
            <a:picLocks noChangeAspect="1"/>
          </p:cNvPicPr>
          <p:nvPr/>
        </p:nvPicPr>
        <p:blipFill>
          <a:blip r:embed="rId5"/>
          <a:stretch>
            <a:fillRect/>
          </a:stretch>
        </p:blipFill>
        <p:spPr>
          <a:xfrm>
            <a:off x="8778240" y="4919472"/>
            <a:ext cx="310896" cy="310896"/>
          </a:xfrm>
          <a:prstGeom prst="rect">
            <a:avLst/>
          </a:prstGeom>
        </p:spPr>
      </p:pic>
      <p:sp>
        <p:nvSpPr>
          <p:cNvPr id="12" name="Text 7"/>
          <p:cNvSpPr/>
          <p:nvPr/>
        </p:nvSpPr>
        <p:spPr>
          <a:xfrm>
            <a:off x="9198864" y="3931920"/>
            <a:ext cx="2240280" cy="2286000"/>
          </a:xfrm>
          <a:prstGeom prst="rect">
            <a:avLst/>
          </a:prstGeom>
          <a:noFill/>
          <a:ln/>
        </p:spPr>
        <p:txBody>
          <a:bodyPr wrap="square" rtlCol="0" anchor="ctr"/>
          <a:lstStyle/>
          <a:p>
            <a:pPr marL="0" indent="0">
              <a:buNone/>
            </a:pPr>
            <a:r>
              <a:rPr lang="en-US" sz="1150" dirty="0">
                <a:solidFill>
                  <a:srgbClr val="2A2A3C"/>
                </a:solidFill>
                <a:latin typeface="Calibri" pitchFamily="34" charset="0"/>
                <a:ea typeface="Calibri" pitchFamily="34" charset="-122"/>
                <a:cs typeface="Calibri" pitchFamily="34" charset="-120"/>
              </a:rPr>
              <a:t>Western Cape (770) is a distant second — audience is concentrated but present in every province.</a:t>
            </a:r>
            <a:endParaRPr lang="en-US" sz="1150" dirty="0"/>
          </a:p>
        </p:txBody>
      </p:sp>
      <p:sp>
        <p:nvSpPr>
          <p:cNvPr id="14" name="Text 8"/>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5" name="Text 9"/>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WHEN THEY'RE WATCHING</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Friday Peaks, Monday Dips</a:t>
            </a:r>
            <a:endParaRPr lang="en-US" sz="3200" dirty="0"/>
          </a:p>
        </p:txBody>
      </p:sp>
      <p:graphicFrame>
        <p:nvGraphicFramePr>
          <p:cNvPr id="4" name="Chart 0"/>
          <p:cNvGraphicFramePr/>
          <p:nvPr/>
        </p:nvGraphicFramePr>
        <p:xfrm>
          <a:off x="457200" y="1691640"/>
          <a:ext cx="73152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001000" y="1691640"/>
            <a:ext cx="3657600" cy="2011680"/>
          </a:xfrm>
          <a:prstGeom prst="roundRect">
            <a:avLst>
              <a:gd name="adj" fmla="val 4545"/>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6" name="Text 3"/>
          <p:cNvSpPr/>
          <p:nvPr/>
        </p:nvSpPr>
        <p:spPr>
          <a:xfrm>
            <a:off x="8229600" y="1828800"/>
            <a:ext cx="3200400" cy="502920"/>
          </a:xfrm>
          <a:prstGeom prst="rect">
            <a:avLst/>
          </a:prstGeom>
          <a:noFill/>
          <a:ln/>
        </p:spPr>
        <p:txBody>
          <a:bodyPr wrap="square" rtlCol="0" anchor="ctr"/>
          <a:lstStyle/>
          <a:p>
            <a:pPr marL="0" indent="0">
              <a:buNone/>
            </a:pPr>
            <a:r>
              <a:rPr lang="en-US" sz="2600" b="1" dirty="0">
                <a:solidFill>
                  <a:srgbClr val="F5A623"/>
                </a:solidFill>
                <a:latin typeface="Cambria" pitchFamily="34" charset="0"/>
                <a:ea typeface="Cambria" pitchFamily="34" charset="-122"/>
                <a:cs typeface="Cambria" pitchFamily="34" charset="-120"/>
              </a:rPr>
              <a:t>1,673</a:t>
            </a:r>
            <a:endParaRPr lang="en-US" sz="2600" dirty="0"/>
          </a:p>
        </p:txBody>
      </p:sp>
      <p:sp>
        <p:nvSpPr>
          <p:cNvPr id="7" name="Text 4"/>
          <p:cNvSpPr/>
          <p:nvPr/>
        </p:nvSpPr>
        <p:spPr>
          <a:xfrm>
            <a:off x="8229600" y="2395728"/>
            <a:ext cx="3200400" cy="1051560"/>
          </a:xfrm>
          <a:prstGeom prst="rect">
            <a:avLst/>
          </a:prstGeom>
          <a:noFill/>
          <a:ln/>
        </p:spPr>
        <p:txBody>
          <a:bodyPr wrap="square" rtlCol="0" anchor="ctr"/>
          <a:lstStyle/>
          <a:p>
            <a:pPr marL="0" indent="0">
              <a:lnSpc>
                <a:spcPts val="1600"/>
              </a:lnSpc>
              <a:buNone/>
            </a:pPr>
            <a:r>
              <a:rPr lang="en-US" sz="1200" dirty="0">
                <a:solidFill>
                  <a:srgbClr val="6B6B7D"/>
                </a:solidFill>
                <a:latin typeface="Calibri" pitchFamily="34" charset="0"/>
                <a:ea typeface="Calibri" pitchFamily="34" charset="-122"/>
                <a:cs typeface="Calibri" pitchFamily="34" charset="-120"/>
              </a:rPr>
              <a:t>Friday sessions — the highest-viewing day of the week</a:t>
            </a:r>
            <a:endParaRPr lang="en-US" sz="1200" dirty="0"/>
          </a:p>
        </p:txBody>
      </p:sp>
      <p:sp>
        <p:nvSpPr>
          <p:cNvPr id="8" name="Shape 5"/>
          <p:cNvSpPr/>
          <p:nvPr/>
        </p:nvSpPr>
        <p:spPr>
          <a:xfrm>
            <a:off x="8001000" y="3886200"/>
            <a:ext cx="3657600" cy="2011680"/>
          </a:xfrm>
          <a:prstGeom prst="roundRect">
            <a:avLst>
              <a:gd name="adj" fmla="val 4545"/>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9" name="Text 6"/>
          <p:cNvSpPr/>
          <p:nvPr/>
        </p:nvSpPr>
        <p:spPr>
          <a:xfrm>
            <a:off x="8229600" y="4023360"/>
            <a:ext cx="3200400" cy="502920"/>
          </a:xfrm>
          <a:prstGeom prst="rect">
            <a:avLst/>
          </a:prstGeom>
          <a:noFill/>
          <a:ln/>
        </p:spPr>
        <p:txBody>
          <a:bodyPr wrap="square" rtlCol="0" anchor="ctr"/>
          <a:lstStyle/>
          <a:p>
            <a:pPr marL="0" indent="0">
              <a:buNone/>
            </a:pPr>
            <a:r>
              <a:rPr lang="en-US" sz="2600" b="1" dirty="0">
                <a:solidFill>
                  <a:srgbClr val="FF6B4A"/>
                </a:solidFill>
                <a:latin typeface="Cambria" pitchFamily="34" charset="0"/>
                <a:ea typeface="Cambria" pitchFamily="34" charset="-122"/>
                <a:cs typeface="Cambria" pitchFamily="34" charset="-120"/>
              </a:rPr>
              <a:t>956</a:t>
            </a:r>
            <a:endParaRPr lang="en-US" sz="2600" dirty="0"/>
          </a:p>
        </p:txBody>
      </p:sp>
      <p:sp>
        <p:nvSpPr>
          <p:cNvPr id="10" name="Text 7"/>
          <p:cNvSpPr/>
          <p:nvPr/>
        </p:nvSpPr>
        <p:spPr>
          <a:xfrm>
            <a:off x="8229600" y="4590288"/>
            <a:ext cx="3200400" cy="1051560"/>
          </a:xfrm>
          <a:prstGeom prst="rect">
            <a:avLst/>
          </a:prstGeom>
          <a:noFill/>
          <a:ln/>
        </p:spPr>
        <p:txBody>
          <a:bodyPr wrap="square" rtlCol="0" anchor="ctr"/>
          <a:lstStyle/>
          <a:p>
            <a:pPr marL="0" indent="0">
              <a:lnSpc>
                <a:spcPts val="1600"/>
              </a:lnSpc>
              <a:buNone/>
            </a:pPr>
            <a:r>
              <a:rPr lang="en-US" sz="1200" dirty="0">
                <a:solidFill>
                  <a:srgbClr val="6B6B7D"/>
                </a:solidFill>
                <a:latin typeface="Calibri" pitchFamily="34" charset="0"/>
                <a:ea typeface="Calibri" pitchFamily="34" charset="-122"/>
                <a:cs typeface="Calibri" pitchFamily="34" charset="-120"/>
              </a:rPr>
              <a:t>Monday sessions — the lowest-viewing day, ~43% below Friday</a:t>
            </a:r>
            <a:endParaRPr lang="en-US" sz="1200" dirty="0"/>
          </a:p>
        </p:txBody>
      </p:sp>
      <p:sp>
        <p:nvSpPr>
          <p:cNvPr id="12" name="Text 8"/>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3" name="Text 9"/>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09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WHEN THEY'RE WATCHING</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Evenings Own Prime Time</a:t>
            </a:r>
            <a:endParaRPr lang="en-US" sz="3200" dirty="0"/>
          </a:p>
        </p:txBody>
      </p:sp>
      <p:graphicFrame>
        <p:nvGraphicFramePr>
          <p:cNvPr id="4" name="Chart 0"/>
          <p:cNvGraphicFramePr/>
          <p:nvPr/>
        </p:nvGraphicFramePr>
        <p:xfrm>
          <a:off x="457200" y="1691640"/>
          <a:ext cx="79552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95360" y="1691640"/>
            <a:ext cx="3063240" cy="2011680"/>
          </a:xfrm>
          <a:prstGeom prst="roundRect">
            <a:avLst>
              <a:gd name="adj" fmla="val 4545"/>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6" name="Shape 3"/>
          <p:cNvSpPr/>
          <p:nvPr/>
        </p:nvSpPr>
        <p:spPr>
          <a:xfrm>
            <a:off x="8823960" y="1901952"/>
            <a:ext cx="457200" cy="457200"/>
          </a:xfrm>
          <a:prstGeom prst="ellipse">
            <a:avLst/>
          </a:prstGeom>
          <a:solidFill>
            <a:srgbClr val="F5A623"/>
          </a:solidFill>
          <a:ln/>
        </p:spPr>
        <p:txBody>
          <a:bodyPr/>
          <a:lstStyle/>
          <a:p>
            <a:endParaRPr lang="en-ZA"/>
          </a:p>
        </p:txBody>
      </p:sp>
      <p:pic>
        <p:nvPicPr>
          <p:cNvPr id="7" name="Image 0" descr="/home/claude/assets/icon_clock_white.png"/>
          <p:cNvPicPr>
            <a:picLocks noChangeAspect="1"/>
          </p:cNvPicPr>
          <p:nvPr/>
        </p:nvPicPr>
        <p:blipFill>
          <a:blip r:embed="rId4"/>
          <a:stretch>
            <a:fillRect/>
          </a:stretch>
        </p:blipFill>
        <p:spPr>
          <a:xfrm>
            <a:off x="8883396" y="1961388"/>
            <a:ext cx="338328" cy="338328"/>
          </a:xfrm>
          <a:prstGeom prst="rect">
            <a:avLst/>
          </a:prstGeom>
        </p:spPr>
      </p:pic>
      <p:sp>
        <p:nvSpPr>
          <p:cNvPr id="8" name="Text 4"/>
          <p:cNvSpPr/>
          <p:nvPr/>
        </p:nvSpPr>
        <p:spPr>
          <a:xfrm>
            <a:off x="8823960" y="2487168"/>
            <a:ext cx="2651760" cy="457200"/>
          </a:xfrm>
          <a:prstGeom prst="rect">
            <a:avLst/>
          </a:prstGeom>
          <a:noFill/>
          <a:ln/>
        </p:spPr>
        <p:txBody>
          <a:bodyPr wrap="square" rtlCol="0" anchor="ctr"/>
          <a:lstStyle/>
          <a:p>
            <a:pPr marL="0" indent="0">
              <a:buNone/>
            </a:pPr>
            <a:r>
              <a:rPr lang="en-US" sz="2200" b="1" dirty="0">
                <a:solidFill>
                  <a:srgbClr val="2B1E6B"/>
                </a:solidFill>
                <a:latin typeface="Cambria" pitchFamily="34" charset="0"/>
                <a:ea typeface="Cambria" pitchFamily="34" charset="-122"/>
                <a:cs typeface="Cambria" pitchFamily="34" charset="-120"/>
              </a:rPr>
              <a:t>17:00</a:t>
            </a:r>
            <a:endParaRPr lang="en-US" sz="2200" dirty="0"/>
          </a:p>
        </p:txBody>
      </p:sp>
      <p:sp>
        <p:nvSpPr>
          <p:cNvPr id="9" name="Text 5"/>
          <p:cNvSpPr/>
          <p:nvPr/>
        </p:nvSpPr>
        <p:spPr>
          <a:xfrm>
            <a:off x="8823960" y="2926080"/>
            <a:ext cx="2651760" cy="685800"/>
          </a:xfrm>
          <a:prstGeom prst="rect">
            <a:avLst/>
          </a:prstGeom>
          <a:noFill/>
          <a:ln/>
        </p:spPr>
        <p:txBody>
          <a:bodyPr wrap="square" rtlCol="0" anchor="ctr"/>
          <a:lstStyle/>
          <a:p>
            <a:pPr marL="0" indent="0">
              <a:lnSpc>
                <a:spcPts val="1500"/>
              </a:lnSpc>
              <a:buNone/>
            </a:pPr>
            <a:r>
              <a:rPr lang="en-US" sz="1150" dirty="0">
                <a:solidFill>
                  <a:srgbClr val="6B6B7D"/>
                </a:solidFill>
                <a:latin typeface="Calibri" pitchFamily="34" charset="0"/>
                <a:ea typeface="Calibri" pitchFamily="34" charset="-122"/>
                <a:cs typeface="Calibri" pitchFamily="34" charset="-120"/>
              </a:rPr>
              <a:t>Peak hour — 648 sessions, SA time</a:t>
            </a:r>
            <a:endParaRPr lang="en-US" sz="1150" dirty="0"/>
          </a:p>
        </p:txBody>
      </p:sp>
      <p:sp>
        <p:nvSpPr>
          <p:cNvPr id="10" name="Shape 6"/>
          <p:cNvSpPr/>
          <p:nvPr/>
        </p:nvSpPr>
        <p:spPr>
          <a:xfrm>
            <a:off x="8595360" y="3886200"/>
            <a:ext cx="3063240" cy="2011680"/>
          </a:xfrm>
          <a:prstGeom prst="roundRect">
            <a:avLst>
              <a:gd name="adj" fmla="val 3636"/>
            </a:avLst>
          </a:prstGeom>
          <a:solidFill>
            <a:srgbClr val="ECE9FB"/>
          </a:solidFill>
          <a:ln/>
        </p:spPr>
        <p:txBody>
          <a:bodyPr/>
          <a:lstStyle/>
          <a:p>
            <a:endParaRPr lang="en-ZA"/>
          </a:p>
        </p:txBody>
      </p:sp>
      <p:pic>
        <p:nvPicPr>
          <p:cNvPr id="11" name="Image 1" descr="/home/claude/assets/icon_trending_indigo.png"/>
          <p:cNvPicPr>
            <a:picLocks noChangeAspect="1"/>
          </p:cNvPicPr>
          <p:nvPr/>
        </p:nvPicPr>
        <p:blipFill>
          <a:blip r:embed="rId5"/>
          <a:stretch>
            <a:fillRect/>
          </a:stretch>
        </p:blipFill>
        <p:spPr>
          <a:xfrm>
            <a:off x="8778240" y="4736592"/>
            <a:ext cx="310896" cy="310896"/>
          </a:xfrm>
          <a:prstGeom prst="rect">
            <a:avLst/>
          </a:prstGeom>
        </p:spPr>
      </p:pic>
      <p:sp>
        <p:nvSpPr>
          <p:cNvPr id="12" name="Text 7"/>
          <p:cNvSpPr/>
          <p:nvPr/>
        </p:nvSpPr>
        <p:spPr>
          <a:xfrm>
            <a:off x="9198864" y="3886200"/>
            <a:ext cx="2240280" cy="2011680"/>
          </a:xfrm>
          <a:prstGeom prst="rect">
            <a:avLst/>
          </a:prstGeom>
          <a:noFill/>
          <a:ln/>
        </p:spPr>
        <p:txBody>
          <a:bodyPr wrap="square" rtlCol="0" anchor="ctr"/>
          <a:lstStyle/>
          <a:p>
            <a:pPr marL="0" indent="0">
              <a:buNone/>
            </a:pPr>
            <a:r>
              <a:rPr lang="en-US" sz="1150" dirty="0">
                <a:solidFill>
                  <a:srgbClr val="2A2A3C"/>
                </a:solidFill>
                <a:latin typeface="Calibri" pitchFamily="34" charset="0"/>
                <a:ea typeface="Calibri" pitchFamily="34" charset="-122"/>
                <a:cs typeface="Calibri" pitchFamily="34" charset="-120"/>
              </a:rPr>
              <a:t>Viewing builds steadily from 07:00, sustains through the evening, and troughs overnight around 03:00–04:00.</a:t>
            </a:r>
            <a:endParaRPr lang="en-US" sz="1150" dirty="0"/>
          </a:p>
        </p:txBody>
      </p:sp>
      <p:sp>
        <p:nvSpPr>
          <p:cNvPr id="14" name="Text 8"/>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5" name="Text 9"/>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WHAT THEY'RE WATCHING</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Sport Content Leads Overall</a:t>
            </a:r>
            <a:endParaRPr lang="en-US" sz="3200" dirty="0"/>
          </a:p>
        </p:txBody>
      </p:sp>
      <p:graphicFrame>
        <p:nvGraphicFramePr>
          <p:cNvPr id="4" name="Chart 0"/>
          <p:cNvGraphicFramePr/>
          <p:nvPr/>
        </p:nvGraphicFramePr>
        <p:xfrm>
          <a:off x="457200" y="1600200"/>
          <a:ext cx="795528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595360" y="1600200"/>
            <a:ext cx="3063240" cy="2148840"/>
          </a:xfrm>
          <a:prstGeom prst="roundRect">
            <a:avLst>
              <a:gd name="adj" fmla="val 4255"/>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6" name="Shape 3"/>
          <p:cNvSpPr/>
          <p:nvPr/>
        </p:nvSpPr>
        <p:spPr>
          <a:xfrm>
            <a:off x="8823960" y="1810512"/>
            <a:ext cx="457200" cy="457200"/>
          </a:xfrm>
          <a:prstGeom prst="ellipse">
            <a:avLst/>
          </a:prstGeom>
          <a:solidFill>
            <a:srgbClr val="2B1E6B"/>
          </a:solidFill>
          <a:ln/>
        </p:spPr>
        <p:txBody>
          <a:bodyPr/>
          <a:lstStyle/>
          <a:p>
            <a:endParaRPr lang="en-ZA"/>
          </a:p>
        </p:txBody>
      </p:sp>
      <p:pic>
        <p:nvPicPr>
          <p:cNvPr id="7" name="Image 0" descr="/home/claude/assets/icon_tv_white.png"/>
          <p:cNvPicPr>
            <a:picLocks noChangeAspect="1"/>
          </p:cNvPicPr>
          <p:nvPr/>
        </p:nvPicPr>
        <p:blipFill>
          <a:blip r:embed="rId4"/>
          <a:stretch>
            <a:fillRect/>
          </a:stretch>
        </p:blipFill>
        <p:spPr>
          <a:xfrm>
            <a:off x="8883396" y="1869948"/>
            <a:ext cx="338328" cy="338328"/>
          </a:xfrm>
          <a:prstGeom prst="rect">
            <a:avLst/>
          </a:prstGeom>
        </p:spPr>
      </p:pic>
      <p:sp>
        <p:nvSpPr>
          <p:cNvPr id="8" name="Text 4"/>
          <p:cNvSpPr/>
          <p:nvPr/>
        </p:nvSpPr>
        <p:spPr>
          <a:xfrm>
            <a:off x="8823960" y="2395728"/>
            <a:ext cx="2651760" cy="411480"/>
          </a:xfrm>
          <a:prstGeom prst="rect">
            <a:avLst/>
          </a:prstGeom>
          <a:noFill/>
          <a:ln/>
        </p:spPr>
        <p:txBody>
          <a:bodyPr wrap="square" rtlCol="0" anchor="ctr"/>
          <a:lstStyle/>
          <a:p>
            <a:pPr marL="0" indent="0">
              <a:buNone/>
            </a:pPr>
            <a:r>
              <a:rPr lang="en-US" sz="1900" b="1" dirty="0">
                <a:solidFill>
                  <a:srgbClr val="2B1E6B"/>
                </a:solidFill>
                <a:latin typeface="Cambria" pitchFamily="34" charset="0"/>
                <a:ea typeface="Cambria" pitchFamily="34" charset="-122"/>
                <a:cs typeface="Cambria" pitchFamily="34" charset="-120"/>
              </a:rPr>
              <a:t>1,637</a:t>
            </a:r>
            <a:endParaRPr lang="en-US" sz="1900" dirty="0"/>
          </a:p>
        </p:txBody>
      </p:sp>
      <p:sp>
        <p:nvSpPr>
          <p:cNvPr id="9" name="Text 5"/>
          <p:cNvSpPr/>
          <p:nvPr/>
        </p:nvSpPr>
        <p:spPr>
          <a:xfrm>
            <a:off x="8823960" y="2816352"/>
            <a:ext cx="2651760" cy="822960"/>
          </a:xfrm>
          <a:prstGeom prst="rect">
            <a:avLst/>
          </a:prstGeom>
          <a:noFill/>
          <a:ln/>
        </p:spPr>
        <p:txBody>
          <a:bodyPr wrap="square" rtlCol="0" anchor="ctr"/>
          <a:lstStyle/>
          <a:p>
            <a:pPr marL="0" indent="0">
              <a:lnSpc>
                <a:spcPts val="1500"/>
              </a:lnSpc>
              <a:buNone/>
            </a:pPr>
            <a:r>
              <a:rPr lang="en-US" sz="1150" dirty="0">
                <a:solidFill>
                  <a:srgbClr val="6B6B7D"/>
                </a:solidFill>
                <a:latin typeface="Calibri" pitchFamily="34" charset="0"/>
                <a:ea typeface="Calibri" pitchFamily="34" charset="-122"/>
                <a:cs typeface="Calibri" pitchFamily="34" charset="-120"/>
              </a:rPr>
              <a:t>sessions on Supersport Live Events — the top channel</a:t>
            </a:r>
            <a:endParaRPr lang="en-US" sz="1150" dirty="0"/>
          </a:p>
        </p:txBody>
      </p:sp>
      <p:sp>
        <p:nvSpPr>
          <p:cNvPr id="10" name="Shape 6"/>
          <p:cNvSpPr/>
          <p:nvPr/>
        </p:nvSpPr>
        <p:spPr>
          <a:xfrm>
            <a:off x="8595360" y="3931920"/>
            <a:ext cx="3063240" cy="2286000"/>
          </a:xfrm>
          <a:prstGeom prst="roundRect">
            <a:avLst>
              <a:gd name="adj" fmla="val 3200"/>
            </a:avLst>
          </a:prstGeom>
          <a:solidFill>
            <a:srgbClr val="ECE9FB"/>
          </a:solidFill>
          <a:ln/>
        </p:spPr>
        <p:txBody>
          <a:bodyPr/>
          <a:lstStyle/>
          <a:p>
            <a:endParaRPr lang="en-ZA"/>
          </a:p>
        </p:txBody>
      </p:sp>
      <p:pic>
        <p:nvPicPr>
          <p:cNvPr id="11" name="Image 1" descr="/home/claude/assets/icon_zap_indigo.png"/>
          <p:cNvPicPr>
            <a:picLocks noChangeAspect="1"/>
          </p:cNvPicPr>
          <p:nvPr/>
        </p:nvPicPr>
        <p:blipFill>
          <a:blip r:embed="rId5"/>
          <a:stretch>
            <a:fillRect/>
          </a:stretch>
        </p:blipFill>
        <p:spPr>
          <a:xfrm>
            <a:off x="8778240" y="4919472"/>
            <a:ext cx="310896" cy="310896"/>
          </a:xfrm>
          <a:prstGeom prst="rect">
            <a:avLst/>
          </a:prstGeom>
        </p:spPr>
      </p:pic>
      <p:sp>
        <p:nvSpPr>
          <p:cNvPr id="12" name="Text 7"/>
          <p:cNvSpPr/>
          <p:nvPr/>
        </p:nvSpPr>
        <p:spPr>
          <a:xfrm>
            <a:off x="9198864" y="3931920"/>
            <a:ext cx="2240280" cy="2286000"/>
          </a:xfrm>
          <a:prstGeom prst="rect">
            <a:avLst/>
          </a:prstGeom>
          <a:noFill/>
          <a:ln/>
        </p:spPr>
        <p:txBody>
          <a:bodyPr wrap="square" rtlCol="0" anchor="ctr"/>
          <a:lstStyle/>
          <a:p>
            <a:pPr marL="0" indent="0">
              <a:buNone/>
            </a:pPr>
            <a:r>
              <a:rPr lang="en-US" sz="1150" dirty="0">
                <a:solidFill>
                  <a:srgbClr val="2A2A3C"/>
                </a:solidFill>
                <a:latin typeface="Calibri" pitchFamily="34" charset="0"/>
                <a:ea typeface="Calibri" pitchFamily="34" charset="-122"/>
                <a:cs typeface="Calibri" pitchFamily="34" charset="-120"/>
              </a:rPr>
              <a:t>The ICC Cricket World Cup 2011 (1,465 sessions) confirms major live sporting events are a strong draw.</a:t>
            </a:r>
            <a:endParaRPr lang="en-US" sz="1150" dirty="0"/>
          </a:p>
        </p:txBody>
      </p:sp>
      <p:sp>
        <p:nvSpPr>
          <p:cNvPr id="14" name="Text 8"/>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5" name="Text 9"/>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READING THE PATTERNS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What's Associated With Higher Consumption?</a:t>
            </a:r>
            <a:endParaRPr lang="en-US" sz="3200" dirty="0"/>
          </a:p>
        </p:txBody>
      </p:sp>
      <p:sp>
        <p:nvSpPr>
          <p:cNvPr id="4" name="Shape 2"/>
          <p:cNvSpPr/>
          <p:nvPr/>
        </p:nvSpPr>
        <p:spPr>
          <a:xfrm>
            <a:off x="548640" y="1691640"/>
            <a:ext cx="2084832" cy="2743200"/>
          </a:xfrm>
          <a:prstGeom prst="roundRect">
            <a:avLst>
              <a:gd name="adj" fmla="val 4386"/>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5" name="Shape 3"/>
          <p:cNvSpPr/>
          <p:nvPr/>
        </p:nvSpPr>
        <p:spPr>
          <a:xfrm>
            <a:off x="777240" y="1947672"/>
            <a:ext cx="502920" cy="502920"/>
          </a:xfrm>
          <a:prstGeom prst="ellipse">
            <a:avLst/>
          </a:prstGeom>
          <a:solidFill>
            <a:srgbClr val="2B1E6B"/>
          </a:solidFill>
          <a:ln/>
        </p:spPr>
        <p:txBody>
          <a:bodyPr/>
          <a:lstStyle/>
          <a:p>
            <a:endParaRPr lang="en-ZA"/>
          </a:p>
        </p:txBody>
      </p:sp>
      <p:pic>
        <p:nvPicPr>
          <p:cNvPr id="6" name="Image 0" descr="/home/claude/assets/icon_calendar_white.png"/>
          <p:cNvPicPr>
            <a:picLocks noChangeAspect="1"/>
          </p:cNvPicPr>
          <p:nvPr/>
        </p:nvPicPr>
        <p:blipFill>
          <a:blip r:embed="rId3"/>
          <a:stretch>
            <a:fillRect/>
          </a:stretch>
        </p:blipFill>
        <p:spPr>
          <a:xfrm>
            <a:off x="842620" y="2013052"/>
            <a:ext cx="372161" cy="372161"/>
          </a:xfrm>
          <a:prstGeom prst="rect">
            <a:avLst/>
          </a:prstGeom>
        </p:spPr>
      </p:pic>
      <p:sp>
        <p:nvSpPr>
          <p:cNvPr id="7" name="Text 4"/>
          <p:cNvSpPr/>
          <p:nvPr/>
        </p:nvSpPr>
        <p:spPr>
          <a:xfrm>
            <a:off x="749808" y="2697480"/>
            <a:ext cx="1719072" cy="54864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Day of week</a:t>
            </a:r>
            <a:endParaRPr lang="en-US" sz="1350" dirty="0"/>
          </a:p>
        </p:txBody>
      </p:sp>
      <p:sp>
        <p:nvSpPr>
          <p:cNvPr id="8" name="Text 5"/>
          <p:cNvSpPr/>
          <p:nvPr/>
        </p:nvSpPr>
        <p:spPr>
          <a:xfrm>
            <a:off x="749808" y="3200400"/>
            <a:ext cx="1719072" cy="1143000"/>
          </a:xfrm>
          <a:prstGeom prst="rect">
            <a:avLst/>
          </a:prstGeom>
          <a:noFill/>
          <a:ln/>
        </p:spPr>
        <p:txBody>
          <a:bodyPr wrap="square" rtlCol="0" anchor="ctr"/>
          <a:lstStyle/>
          <a:p>
            <a:pPr marL="0" indent="0">
              <a:lnSpc>
                <a:spcPts val="1400"/>
              </a:lnSpc>
              <a:buNone/>
            </a:pPr>
            <a:r>
              <a:rPr lang="en-US" sz="1050" dirty="0">
                <a:solidFill>
                  <a:srgbClr val="6B6B7D"/>
                </a:solidFill>
                <a:latin typeface="Calibri" pitchFamily="34" charset="0"/>
                <a:ea typeface="Calibri" pitchFamily="34" charset="-122"/>
                <a:cs typeface="Calibri" pitchFamily="34" charset="-120"/>
              </a:rPr>
              <a:t>Friday (1,673) far outpaces Monday (956) in sessions</a:t>
            </a:r>
            <a:endParaRPr lang="en-US" sz="1050" dirty="0"/>
          </a:p>
        </p:txBody>
      </p:sp>
      <p:sp>
        <p:nvSpPr>
          <p:cNvPr id="9" name="Shape 6"/>
          <p:cNvSpPr/>
          <p:nvPr/>
        </p:nvSpPr>
        <p:spPr>
          <a:xfrm>
            <a:off x="2816352" y="1691640"/>
            <a:ext cx="2084832" cy="2743200"/>
          </a:xfrm>
          <a:prstGeom prst="roundRect">
            <a:avLst>
              <a:gd name="adj" fmla="val 4386"/>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0" name="Shape 7"/>
          <p:cNvSpPr/>
          <p:nvPr/>
        </p:nvSpPr>
        <p:spPr>
          <a:xfrm>
            <a:off x="3044952" y="1947672"/>
            <a:ext cx="502920" cy="502920"/>
          </a:xfrm>
          <a:prstGeom prst="ellipse">
            <a:avLst/>
          </a:prstGeom>
          <a:solidFill>
            <a:srgbClr val="2B1E6B"/>
          </a:solidFill>
          <a:ln/>
        </p:spPr>
        <p:txBody>
          <a:bodyPr/>
          <a:lstStyle/>
          <a:p>
            <a:endParaRPr lang="en-ZA"/>
          </a:p>
        </p:txBody>
      </p:sp>
      <p:pic>
        <p:nvPicPr>
          <p:cNvPr id="11" name="Image 1" descr="/home/claude/assets/icon_clock_white.png"/>
          <p:cNvPicPr>
            <a:picLocks noChangeAspect="1"/>
          </p:cNvPicPr>
          <p:nvPr/>
        </p:nvPicPr>
        <p:blipFill>
          <a:blip r:embed="rId4"/>
          <a:stretch>
            <a:fillRect/>
          </a:stretch>
        </p:blipFill>
        <p:spPr>
          <a:xfrm>
            <a:off x="3110332" y="2013052"/>
            <a:ext cx="372161" cy="372161"/>
          </a:xfrm>
          <a:prstGeom prst="rect">
            <a:avLst/>
          </a:prstGeom>
        </p:spPr>
      </p:pic>
      <p:sp>
        <p:nvSpPr>
          <p:cNvPr id="12" name="Text 8"/>
          <p:cNvSpPr/>
          <p:nvPr/>
        </p:nvSpPr>
        <p:spPr>
          <a:xfrm>
            <a:off x="3017520" y="2697480"/>
            <a:ext cx="1719072" cy="54864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Time of day</a:t>
            </a:r>
            <a:endParaRPr lang="en-US" sz="1350" dirty="0"/>
          </a:p>
        </p:txBody>
      </p:sp>
      <p:sp>
        <p:nvSpPr>
          <p:cNvPr id="13" name="Text 9"/>
          <p:cNvSpPr/>
          <p:nvPr/>
        </p:nvSpPr>
        <p:spPr>
          <a:xfrm>
            <a:off x="3017520" y="3200400"/>
            <a:ext cx="1719072" cy="1143000"/>
          </a:xfrm>
          <a:prstGeom prst="rect">
            <a:avLst/>
          </a:prstGeom>
          <a:noFill/>
          <a:ln/>
        </p:spPr>
        <p:txBody>
          <a:bodyPr wrap="square" rtlCol="0" anchor="ctr"/>
          <a:lstStyle/>
          <a:p>
            <a:pPr marL="0" indent="0">
              <a:lnSpc>
                <a:spcPts val="1400"/>
              </a:lnSpc>
              <a:buNone/>
            </a:pPr>
            <a:r>
              <a:rPr lang="en-US" sz="1050" dirty="0">
                <a:solidFill>
                  <a:srgbClr val="6B6B7D"/>
                </a:solidFill>
                <a:latin typeface="Calibri" pitchFamily="34" charset="0"/>
                <a:ea typeface="Calibri" pitchFamily="34" charset="-122"/>
                <a:cs typeface="Calibri" pitchFamily="34" charset="-120"/>
              </a:rPr>
              <a:t>Evenings dominate; 17:00 is the daily peak (648 sessions)</a:t>
            </a:r>
            <a:endParaRPr lang="en-US" sz="1050" dirty="0"/>
          </a:p>
        </p:txBody>
      </p:sp>
      <p:sp>
        <p:nvSpPr>
          <p:cNvPr id="14" name="Shape 10"/>
          <p:cNvSpPr/>
          <p:nvPr/>
        </p:nvSpPr>
        <p:spPr>
          <a:xfrm>
            <a:off x="5084064" y="1691640"/>
            <a:ext cx="2084832" cy="2743200"/>
          </a:xfrm>
          <a:prstGeom prst="roundRect">
            <a:avLst>
              <a:gd name="adj" fmla="val 4386"/>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5" name="Shape 11"/>
          <p:cNvSpPr/>
          <p:nvPr/>
        </p:nvSpPr>
        <p:spPr>
          <a:xfrm>
            <a:off x="5312664" y="1947672"/>
            <a:ext cx="502920" cy="502920"/>
          </a:xfrm>
          <a:prstGeom prst="ellipse">
            <a:avLst/>
          </a:prstGeom>
          <a:solidFill>
            <a:srgbClr val="2B1E6B"/>
          </a:solidFill>
          <a:ln/>
        </p:spPr>
        <p:txBody>
          <a:bodyPr/>
          <a:lstStyle/>
          <a:p>
            <a:endParaRPr lang="en-ZA"/>
          </a:p>
        </p:txBody>
      </p:sp>
      <p:pic>
        <p:nvPicPr>
          <p:cNvPr id="16" name="Image 2" descr="/home/claude/assets/icon_film_white.png"/>
          <p:cNvPicPr>
            <a:picLocks noChangeAspect="1"/>
          </p:cNvPicPr>
          <p:nvPr/>
        </p:nvPicPr>
        <p:blipFill>
          <a:blip r:embed="rId5"/>
          <a:stretch>
            <a:fillRect/>
          </a:stretch>
        </p:blipFill>
        <p:spPr>
          <a:xfrm>
            <a:off x="5378044" y="2013052"/>
            <a:ext cx="372161" cy="372161"/>
          </a:xfrm>
          <a:prstGeom prst="rect">
            <a:avLst/>
          </a:prstGeom>
        </p:spPr>
      </p:pic>
      <p:sp>
        <p:nvSpPr>
          <p:cNvPr id="17" name="Text 12"/>
          <p:cNvSpPr/>
          <p:nvPr/>
        </p:nvSpPr>
        <p:spPr>
          <a:xfrm>
            <a:off x="5285232" y="2697480"/>
            <a:ext cx="1719072" cy="54864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Content genre</a:t>
            </a:r>
            <a:endParaRPr lang="en-US" sz="1350" dirty="0"/>
          </a:p>
        </p:txBody>
      </p:sp>
      <p:sp>
        <p:nvSpPr>
          <p:cNvPr id="18" name="Text 13"/>
          <p:cNvSpPr/>
          <p:nvPr/>
        </p:nvSpPr>
        <p:spPr>
          <a:xfrm>
            <a:off x="5285232" y="3200400"/>
            <a:ext cx="1719072" cy="1143000"/>
          </a:xfrm>
          <a:prstGeom prst="rect">
            <a:avLst/>
          </a:prstGeom>
          <a:noFill/>
          <a:ln/>
        </p:spPr>
        <p:txBody>
          <a:bodyPr wrap="square" rtlCol="0" anchor="ctr"/>
          <a:lstStyle/>
          <a:p>
            <a:pPr marL="0" indent="0">
              <a:lnSpc>
                <a:spcPts val="1400"/>
              </a:lnSpc>
              <a:buNone/>
            </a:pPr>
            <a:r>
              <a:rPr lang="en-US" sz="1050" dirty="0">
                <a:solidFill>
                  <a:srgbClr val="6B6B7D"/>
                </a:solidFill>
                <a:latin typeface="Calibri" pitchFamily="34" charset="0"/>
                <a:ea typeface="Calibri" pitchFamily="34" charset="-122"/>
                <a:cs typeface="Calibri" pitchFamily="34" charset="-120"/>
              </a:rPr>
              <a:t>Live sport &amp; major events (e.g. ICC CWC 2011) draw the most sessions</a:t>
            </a:r>
            <a:endParaRPr lang="en-US" sz="1050" dirty="0"/>
          </a:p>
        </p:txBody>
      </p:sp>
      <p:sp>
        <p:nvSpPr>
          <p:cNvPr id="19" name="Shape 14"/>
          <p:cNvSpPr/>
          <p:nvPr/>
        </p:nvSpPr>
        <p:spPr>
          <a:xfrm>
            <a:off x="7351776" y="1691640"/>
            <a:ext cx="2084832" cy="2743200"/>
          </a:xfrm>
          <a:prstGeom prst="roundRect">
            <a:avLst>
              <a:gd name="adj" fmla="val 4386"/>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20" name="Shape 15"/>
          <p:cNvSpPr/>
          <p:nvPr/>
        </p:nvSpPr>
        <p:spPr>
          <a:xfrm>
            <a:off x="7580376" y="1947672"/>
            <a:ext cx="502920" cy="502920"/>
          </a:xfrm>
          <a:prstGeom prst="ellipse">
            <a:avLst/>
          </a:prstGeom>
          <a:solidFill>
            <a:srgbClr val="2B1E6B"/>
          </a:solidFill>
          <a:ln/>
        </p:spPr>
        <p:txBody>
          <a:bodyPr/>
          <a:lstStyle/>
          <a:p>
            <a:endParaRPr lang="en-ZA"/>
          </a:p>
        </p:txBody>
      </p:sp>
      <p:pic>
        <p:nvPicPr>
          <p:cNvPr id="21" name="Image 3" descr="/home/claude/assets/icon_users_white.png"/>
          <p:cNvPicPr>
            <a:picLocks noChangeAspect="1"/>
          </p:cNvPicPr>
          <p:nvPr/>
        </p:nvPicPr>
        <p:blipFill>
          <a:blip r:embed="rId6"/>
          <a:stretch>
            <a:fillRect/>
          </a:stretch>
        </p:blipFill>
        <p:spPr>
          <a:xfrm>
            <a:off x="7645756" y="2013052"/>
            <a:ext cx="372161" cy="372161"/>
          </a:xfrm>
          <a:prstGeom prst="rect">
            <a:avLst/>
          </a:prstGeom>
        </p:spPr>
      </p:pic>
      <p:sp>
        <p:nvSpPr>
          <p:cNvPr id="22" name="Text 16"/>
          <p:cNvSpPr/>
          <p:nvPr/>
        </p:nvSpPr>
        <p:spPr>
          <a:xfrm>
            <a:off x="7552944" y="2697480"/>
            <a:ext cx="1719072" cy="54864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Audience profile</a:t>
            </a:r>
            <a:endParaRPr lang="en-US" sz="1350" dirty="0"/>
          </a:p>
        </p:txBody>
      </p:sp>
      <p:sp>
        <p:nvSpPr>
          <p:cNvPr id="23" name="Text 17"/>
          <p:cNvSpPr/>
          <p:nvPr/>
        </p:nvSpPr>
        <p:spPr>
          <a:xfrm>
            <a:off x="7552944" y="3200400"/>
            <a:ext cx="1719072" cy="1143000"/>
          </a:xfrm>
          <a:prstGeom prst="rect">
            <a:avLst/>
          </a:prstGeom>
          <a:noFill/>
          <a:ln/>
        </p:spPr>
        <p:txBody>
          <a:bodyPr wrap="square" rtlCol="0" anchor="ctr"/>
          <a:lstStyle/>
          <a:p>
            <a:pPr marL="0" indent="0">
              <a:lnSpc>
                <a:spcPts val="1400"/>
              </a:lnSpc>
              <a:buNone/>
            </a:pPr>
            <a:r>
              <a:rPr lang="en-US" sz="1050" dirty="0">
                <a:solidFill>
                  <a:srgbClr val="6B6B7D"/>
                </a:solidFill>
                <a:latin typeface="Calibri" pitchFamily="34" charset="0"/>
                <a:ea typeface="Calibri" pitchFamily="34" charset="-122"/>
                <a:cs typeface="Calibri" pitchFamily="34" charset="-120"/>
              </a:rPr>
              <a:t>25–44 core, strongly male-skewed viewership</a:t>
            </a:r>
            <a:endParaRPr lang="en-US" sz="1050" dirty="0"/>
          </a:p>
        </p:txBody>
      </p:sp>
      <p:sp>
        <p:nvSpPr>
          <p:cNvPr id="24" name="Shape 18"/>
          <p:cNvSpPr/>
          <p:nvPr/>
        </p:nvSpPr>
        <p:spPr>
          <a:xfrm>
            <a:off x="9619488" y="1691640"/>
            <a:ext cx="2084832" cy="2743200"/>
          </a:xfrm>
          <a:prstGeom prst="roundRect">
            <a:avLst>
              <a:gd name="adj" fmla="val 4386"/>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25" name="Shape 19"/>
          <p:cNvSpPr/>
          <p:nvPr/>
        </p:nvSpPr>
        <p:spPr>
          <a:xfrm>
            <a:off x="9848088" y="1947672"/>
            <a:ext cx="502920" cy="502920"/>
          </a:xfrm>
          <a:prstGeom prst="ellipse">
            <a:avLst/>
          </a:prstGeom>
          <a:solidFill>
            <a:srgbClr val="2B1E6B"/>
          </a:solidFill>
          <a:ln/>
        </p:spPr>
        <p:txBody>
          <a:bodyPr/>
          <a:lstStyle/>
          <a:p>
            <a:endParaRPr lang="en-ZA"/>
          </a:p>
        </p:txBody>
      </p:sp>
      <p:pic>
        <p:nvPicPr>
          <p:cNvPr id="26" name="Image 4" descr="/home/claude/assets/icon_mappin_white.png"/>
          <p:cNvPicPr>
            <a:picLocks noChangeAspect="1"/>
          </p:cNvPicPr>
          <p:nvPr/>
        </p:nvPicPr>
        <p:blipFill>
          <a:blip r:embed="rId7"/>
          <a:stretch>
            <a:fillRect/>
          </a:stretch>
        </p:blipFill>
        <p:spPr>
          <a:xfrm>
            <a:off x="9913468" y="2013052"/>
            <a:ext cx="372161" cy="372161"/>
          </a:xfrm>
          <a:prstGeom prst="rect">
            <a:avLst/>
          </a:prstGeom>
        </p:spPr>
      </p:pic>
      <p:sp>
        <p:nvSpPr>
          <p:cNvPr id="27" name="Text 20"/>
          <p:cNvSpPr/>
          <p:nvPr/>
        </p:nvSpPr>
        <p:spPr>
          <a:xfrm>
            <a:off x="9820656" y="2697480"/>
            <a:ext cx="1719072" cy="54864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Geography</a:t>
            </a:r>
            <a:endParaRPr lang="en-US" sz="1350" dirty="0"/>
          </a:p>
        </p:txBody>
      </p:sp>
      <p:sp>
        <p:nvSpPr>
          <p:cNvPr id="28" name="Text 21"/>
          <p:cNvSpPr/>
          <p:nvPr/>
        </p:nvSpPr>
        <p:spPr>
          <a:xfrm>
            <a:off x="9820656" y="3200400"/>
            <a:ext cx="1719072" cy="1143000"/>
          </a:xfrm>
          <a:prstGeom prst="rect">
            <a:avLst/>
          </a:prstGeom>
          <a:noFill/>
          <a:ln/>
        </p:spPr>
        <p:txBody>
          <a:bodyPr wrap="square" rtlCol="0" anchor="ctr"/>
          <a:lstStyle/>
          <a:p>
            <a:pPr marL="0" indent="0">
              <a:lnSpc>
                <a:spcPts val="1400"/>
              </a:lnSpc>
              <a:buNone/>
            </a:pPr>
            <a:r>
              <a:rPr lang="en-US" sz="1050" dirty="0">
                <a:solidFill>
                  <a:srgbClr val="6B6B7D"/>
                </a:solidFill>
                <a:latin typeface="Calibri" pitchFamily="34" charset="0"/>
                <a:ea typeface="Calibri" pitchFamily="34" charset="-122"/>
                <a:cs typeface="Calibri" pitchFamily="34" charset="-120"/>
              </a:rPr>
              <a:t>Sessions concentrate where Gauteng users are based</a:t>
            </a:r>
            <a:endParaRPr lang="en-US" sz="1050" dirty="0"/>
          </a:p>
        </p:txBody>
      </p:sp>
      <p:sp>
        <p:nvSpPr>
          <p:cNvPr id="29" name="Shape 22"/>
          <p:cNvSpPr/>
          <p:nvPr/>
        </p:nvSpPr>
        <p:spPr>
          <a:xfrm>
            <a:off x="548640" y="4709160"/>
            <a:ext cx="11091672" cy="777240"/>
          </a:xfrm>
          <a:prstGeom prst="roundRect">
            <a:avLst>
              <a:gd name="adj" fmla="val 9412"/>
            </a:avLst>
          </a:prstGeom>
          <a:solidFill>
            <a:srgbClr val="FCEEE8"/>
          </a:solidFill>
          <a:ln/>
        </p:spPr>
        <p:txBody>
          <a:bodyPr/>
          <a:lstStyle/>
          <a:p>
            <a:endParaRPr lang="en-ZA"/>
          </a:p>
        </p:txBody>
      </p:sp>
      <p:pic>
        <p:nvPicPr>
          <p:cNvPr id="30" name="Image 5" descr="/home/claude/assets/icon_alert_coral.png"/>
          <p:cNvPicPr>
            <a:picLocks noChangeAspect="1"/>
          </p:cNvPicPr>
          <p:nvPr/>
        </p:nvPicPr>
        <p:blipFill>
          <a:blip r:embed="rId8"/>
          <a:stretch>
            <a:fillRect/>
          </a:stretch>
        </p:blipFill>
        <p:spPr>
          <a:xfrm>
            <a:off x="731520" y="4942332"/>
            <a:ext cx="310896" cy="310896"/>
          </a:xfrm>
          <a:prstGeom prst="rect">
            <a:avLst/>
          </a:prstGeom>
        </p:spPr>
      </p:pic>
      <p:sp>
        <p:nvSpPr>
          <p:cNvPr id="31" name="Text 23"/>
          <p:cNvSpPr/>
          <p:nvPr/>
        </p:nvSpPr>
        <p:spPr>
          <a:xfrm>
            <a:off x="1152144" y="4709160"/>
            <a:ext cx="10268712" cy="777240"/>
          </a:xfrm>
          <a:prstGeom prst="rect">
            <a:avLst/>
          </a:prstGeom>
          <a:noFill/>
          <a:ln/>
        </p:spPr>
        <p:txBody>
          <a:bodyPr wrap="square" rtlCol="0" anchor="ctr"/>
          <a:lstStyle/>
          <a:p>
            <a:pPr marL="0" indent="0">
              <a:buNone/>
            </a:pPr>
            <a:r>
              <a:rPr lang="en-US" sz="1250" dirty="0">
                <a:solidFill>
                  <a:srgbClr val="2A2A3C"/>
                </a:solidFill>
                <a:latin typeface="Calibri" pitchFamily="34" charset="0"/>
                <a:ea typeface="Calibri" pitchFamily="34" charset="-122"/>
                <a:cs typeface="Calibri" pitchFamily="34" charset="-120"/>
              </a:rPr>
              <a:t>These are OBSERVED ASSOCIATIONS in the data, not proven causes. Confirming what actually drives consumption would require controlled testing (e.g., content or scheduling A/B trials).</a:t>
            </a:r>
            <a:endParaRPr lang="en-US" sz="1250" dirty="0"/>
          </a:p>
        </p:txBody>
      </p:sp>
      <p:sp>
        <p:nvSpPr>
          <p:cNvPr id="33" name="Text 24"/>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34" name="Text 25"/>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THE MONDAY PROBLEM</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Why Does Monday Fall Behind?</a:t>
            </a:r>
            <a:endParaRPr lang="en-US" sz="3200" dirty="0"/>
          </a:p>
        </p:txBody>
      </p:sp>
      <p:sp>
        <p:nvSpPr>
          <p:cNvPr id="4" name="Shape 2"/>
          <p:cNvSpPr/>
          <p:nvPr/>
        </p:nvSpPr>
        <p:spPr>
          <a:xfrm>
            <a:off x="548640" y="1645920"/>
            <a:ext cx="6949440" cy="3977640"/>
          </a:xfrm>
          <a:prstGeom prst="roundRect">
            <a:avLst>
              <a:gd name="adj" fmla="val 1839"/>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5" name="Text 3"/>
          <p:cNvSpPr/>
          <p:nvPr/>
        </p:nvSpPr>
        <p:spPr>
          <a:xfrm>
            <a:off x="822960" y="1810512"/>
            <a:ext cx="5486400" cy="320040"/>
          </a:xfrm>
          <a:prstGeom prst="rect">
            <a:avLst/>
          </a:prstGeom>
          <a:noFill/>
          <a:ln/>
        </p:spPr>
        <p:txBody>
          <a:bodyPr wrap="square" rtlCol="0" anchor="ctr"/>
          <a:lstStyle/>
          <a:p>
            <a:pPr marL="0" indent="0">
              <a:buNone/>
            </a:pPr>
            <a:r>
              <a:rPr lang="en-US" sz="1250" b="1" dirty="0">
                <a:solidFill>
                  <a:srgbClr val="2B1E6B"/>
                </a:solidFill>
                <a:latin typeface="Calibri" pitchFamily="34" charset="0"/>
                <a:ea typeface="Calibri" pitchFamily="34" charset="-122"/>
                <a:cs typeface="Calibri" pitchFamily="34" charset="-120"/>
              </a:rPr>
              <a:t>Sessions by day × hour (SA time)</a:t>
            </a:r>
            <a:endParaRPr lang="en-US" sz="1250" dirty="0"/>
          </a:p>
        </p:txBody>
      </p:sp>
      <p:pic>
        <p:nvPicPr>
          <p:cNvPr id="6" name="Image 0" descr="/home/claude/assets/heatmap.png"/>
          <p:cNvPicPr>
            <a:picLocks noChangeAspect="1"/>
          </p:cNvPicPr>
          <p:nvPr/>
        </p:nvPicPr>
        <p:blipFill>
          <a:blip r:embed="rId3"/>
          <a:stretch>
            <a:fillRect/>
          </a:stretch>
        </p:blipFill>
        <p:spPr>
          <a:xfrm>
            <a:off x="685800" y="2148840"/>
            <a:ext cx="6675120" cy="3291840"/>
          </a:xfrm>
          <a:prstGeom prst="rect">
            <a:avLst/>
          </a:prstGeom>
        </p:spPr>
      </p:pic>
      <p:sp>
        <p:nvSpPr>
          <p:cNvPr id="7" name="Shape 4"/>
          <p:cNvSpPr/>
          <p:nvPr/>
        </p:nvSpPr>
        <p:spPr>
          <a:xfrm>
            <a:off x="7726680" y="1645920"/>
            <a:ext cx="3931920" cy="1234440"/>
          </a:xfrm>
          <a:prstGeom prst="roundRect">
            <a:avLst>
              <a:gd name="adj" fmla="val 7407"/>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8" name="Text 5"/>
          <p:cNvSpPr/>
          <p:nvPr/>
        </p:nvSpPr>
        <p:spPr>
          <a:xfrm>
            <a:off x="7955280" y="1764792"/>
            <a:ext cx="3474720" cy="457200"/>
          </a:xfrm>
          <a:prstGeom prst="rect">
            <a:avLst/>
          </a:prstGeom>
          <a:noFill/>
          <a:ln/>
        </p:spPr>
        <p:txBody>
          <a:bodyPr wrap="square" rtlCol="0" anchor="ctr"/>
          <a:lstStyle/>
          <a:p>
            <a:pPr marL="0" indent="0">
              <a:buNone/>
            </a:pPr>
            <a:r>
              <a:rPr lang="en-US" sz="2200" b="1" dirty="0">
                <a:solidFill>
                  <a:srgbClr val="FF6B4A"/>
                </a:solidFill>
                <a:latin typeface="Cambria" pitchFamily="34" charset="0"/>
                <a:ea typeface="Cambria" pitchFamily="34" charset="-122"/>
                <a:cs typeface="Cambria" pitchFamily="34" charset="-120"/>
              </a:rPr>
              <a:t>956</a:t>
            </a:r>
            <a:endParaRPr lang="en-US" sz="2200" dirty="0"/>
          </a:p>
        </p:txBody>
      </p:sp>
      <p:sp>
        <p:nvSpPr>
          <p:cNvPr id="9" name="Text 6"/>
          <p:cNvSpPr/>
          <p:nvPr/>
        </p:nvSpPr>
        <p:spPr>
          <a:xfrm>
            <a:off x="7955280" y="2212848"/>
            <a:ext cx="3474720" cy="548640"/>
          </a:xfrm>
          <a:prstGeom prst="rect">
            <a:avLst/>
          </a:prstGeom>
          <a:noFill/>
          <a:ln/>
        </p:spPr>
        <p:txBody>
          <a:bodyPr wrap="square" rtlCol="0" anchor="ctr"/>
          <a:lstStyle/>
          <a:p>
            <a:pPr marL="0" indent="0">
              <a:lnSpc>
                <a:spcPts val="1400"/>
              </a:lnSpc>
              <a:buNone/>
            </a:pPr>
            <a:r>
              <a:rPr lang="en-US" sz="1100" dirty="0">
                <a:solidFill>
                  <a:srgbClr val="6B6B7D"/>
                </a:solidFill>
                <a:latin typeface="Calibri" pitchFamily="34" charset="0"/>
                <a:ea typeface="Calibri" pitchFamily="34" charset="-122"/>
                <a:cs typeface="Calibri" pitchFamily="34" charset="-120"/>
              </a:rPr>
              <a:t>Monday sessions — the lowest of any day</a:t>
            </a:r>
            <a:endParaRPr lang="en-US" sz="1100" dirty="0"/>
          </a:p>
        </p:txBody>
      </p:sp>
      <p:sp>
        <p:nvSpPr>
          <p:cNvPr id="10" name="Shape 7"/>
          <p:cNvSpPr/>
          <p:nvPr/>
        </p:nvSpPr>
        <p:spPr>
          <a:xfrm>
            <a:off x="7726680" y="2999232"/>
            <a:ext cx="3931920" cy="1234440"/>
          </a:xfrm>
          <a:prstGeom prst="roundRect">
            <a:avLst>
              <a:gd name="adj" fmla="val 7407"/>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1" name="Text 8"/>
          <p:cNvSpPr/>
          <p:nvPr/>
        </p:nvSpPr>
        <p:spPr>
          <a:xfrm>
            <a:off x="7955280" y="3118104"/>
            <a:ext cx="3474720" cy="457200"/>
          </a:xfrm>
          <a:prstGeom prst="rect">
            <a:avLst/>
          </a:prstGeom>
          <a:noFill/>
          <a:ln/>
        </p:spPr>
        <p:txBody>
          <a:bodyPr wrap="square" rtlCol="0" anchor="ctr"/>
          <a:lstStyle/>
          <a:p>
            <a:pPr marL="0" indent="0">
              <a:buNone/>
            </a:pPr>
            <a:r>
              <a:rPr lang="en-US" sz="2200" b="1" dirty="0">
                <a:solidFill>
                  <a:srgbClr val="2B1E6B"/>
                </a:solidFill>
                <a:latin typeface="Cambria" pitchFamily="34" charset="0"/>
                <a:ea typeface="Cambria" pitchFamily="34" charset="-122"/>
                <a:cs typeface="Cambria" pitchFamily="34" charset="-120"/>
              </a:rPr>
              <a:t>22:00</a:t>
            </a:r>
            <a:endParaRPr lang="en-US" sz="2200" dirty="0"/>
          </a:p>
        </p:txBody>
      </p:sp>
      <p:sp>
        <p:nvSpPr>
          <p:cNvPr id="12" name="Text 9"/>
          <p:cNvSpPr/>
          <p:nvPr/>
        </p:nvSpPr>
        <p:spPr>
          <a:xfrm>
            <a:off x="7955280" y="3566160"/>
            <a:ext cx="3474720" cy="640080"/>
          </a:xfrm>
          <a:prstGeom prst="rect">
            <a:avLst/>
          </a:prstGeom>
          <a:noFill/>
          <a:ln/>
        </p:spPr>
        <p:txBody>
          <a:bodyPr wrap="square" rtlCol="0" anchor="ctr"/>
          <a:lstStyle/>
          <a:p>
            <a:pPr marL="0" indent="0">
              <a:lnSpc>
                <a:spcPts val="1300"/>
              </a:lnSpc>
              <a:buNone/>
            </a:pPr>
            <a:r>
              <a:rPr lang="en-US" sz="1050" dirty="0">
                <a:solidFill>
                  <a:srgbClr val="6B6B7D"/>
                </a:solidFill>
                <a:latin typeface="Calibri" pitchFamily="34" charset="0"/>
                <a:ea typeface="Calibri" pitchFamily="34" charset="-122"/>
                <a:cs typeface="Calibri" pitchFamily="34" charset="-120"/>
              </a:rPr>
              <a:t>Monday's own peak hour (73 sessions) — later than the 17:00 weekly peak</a:t>
            </a:r>
            <a:endParaRPr lang="en-US" sz="1050" dirty="0"/>
          </a:p>
        </p:txBody>
      </p:sp>
      <p:sp>
        <p:nvSpPr>
          <p:cNvPr id="13" name="Shape 10"/>
          <p:cNvSpPr/>
          <p:nvPr/>
        </p:nvSpPr>
        <p:spPr>
          <a:xfrm>
            <a:off x="7726680" y="4352544"/>
            <a:ext cx="3931920" cy="1280160"/>
          </a:xfrm>
          <a:prstGeom prst="roundRect">
            <a:avLst>
              <a:gd name="adj" fmla="val 5714"/>
            </a:avLst>
          </a:prstGeom>
          <a:solidFill>
            <a:srgbClr val="ECE9FB"/>
          </a:solidFill>
          <a:ln/>
        </p:spPr>
        <p:txBody>
          <a:bodyPr/>
          <a:lstStyle/>
          <a:p>
            <a:endParaRPr lang="en-ZA"/>
          </a:p>
        </p:txBody>
      </p:sp>
      <p:pic>
        <p:nvPicPr>
          <p:cNvPr id="14" name="Image 1" descr="/home/claude/assets/icon_music_indigo.png"/>
          <p:cNvPicPr>
            <a:picLocks noChangeAspect="1"/>
          </p:cNvPicPr>
          <p:nvPr/>
        </p:nvPicPr>
        <p:blipFill>
          <a:blip r:embed="rId4"/>
          <a:stretch>
            <a:fillRect/>
          </a:stretch>
        </p:blipFill>
        <p:spPr>
          <a:xfrm>
            <a:off x="7909560" y="4837176"/>
            <a:ext cx="310896" cy="310896"/>
          </a:xfrm>
          <a:prstGeom prst="rect">
            <a:avLst/>
          </a:prstGeom>
        </p:spPr>
      </p:pic>
      <p:sp>
        <p:nvSpPr>
          <p:cNvPr id="15" name="Text 11"/>
          <p:cNvSpPr/>
          <p:nvPr/>
        </p:nvSpPr>
        <p:spPr>
          <a:xfrm>
            <a:off x="8330184" y="4352544"/>
            <a:ext cx="3108960" cy="1280160"/>
          </a:xfrm>
          <a:prstGeom prst="rect">
            <a:avLst/>
          </a:prstGeom>
          <a:noFill/>
          <a:ln/>
        </p:spPr>
        <p:txBody>
          <a:bodyPr wrap="square" rtlCol="0" anchor="ctr"/>
          <a:lstStyle/>
          <a:p>
            <a:pPr marL="0" indent="0">
              <a:buNone/>
            </a:pPr>
            <a:r>
              <a:rPr lang="en-US" sz="1100" dirty="0">
                <a:solidFill>
                  <a:srgbClr val="2A2A3C"/>
                </a:solidFill>
                <a:latin typeface="Calibri" pitchFamily="34" charset="0"/>
                <a:ea typeface="Calibri" pitchFamily="34" charset="-122"/>
                <a:cs typeface="Calibri" pitchFamily="34" charset="-120"/>
              </a:rPr>
              <a:t>On Monday, Channel O (136) and Trace TV (115) outrank Supersport Live Events (98) — the reverse of the overall ranking.</a:t>
            </a:r>
            <a:endParaRPr lang="en-US" sz="1100" dirty="0"/>
          </a:p>
        </p:txBody>
      </p:sp>
      <p:sp>
        <p:nvSpPr>
          <p:cNvPr id="17" name="Text 12"/>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8" name="Text 13"/>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THE OPPORTUNITY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Lean Into Music &amp; Entertainment on Mondays</a:t>
            </a:r>
            <a:endParaRPr lang="en-US" sz="3200" dirty="0"/>
          </a:p>
        </p:txBody>
      </p:sp>
      <p:graphicFrame>
        <p:nvGraphicFramePr>
          <p:cNvPr id="4" name="Chart 0"/>
          <p:cNvGraphicFramePr/>
          <p:nvPr/>
        </p:nvGraphicFramePr>
        <p:xfrm>
          <a:off x="457200" y="1691640"/>
          <a:ext cx="6675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406640" y="1691640"/>
            <a:ext cx="4251960" cy="1298448"/>
          </a:xfrm>
          <a:prstGeom prst="roundRect">
            <a:avLst>
              <a:gd name="adj" fmla="val 6338"/>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6" name="Shape 3"/>
          <p:cNvSpPr/>
          <p:nvPr/>
        </p:nvSpPr>
        <p:spPr>
          <a:xfrm>
            <a:off x="7635240" y="1911096"/>
            <a:ext cx="411480" cy="411480"/>
          </a:xfrm>
          <a:prstGeom prst="ellipse">
            <a:avLst/>
          </a:prstGeom>
          <a:solidFill>
            <a:srgbClr val="2B1E6B"/>
          </a:solidFill>
          <a:ln/>
        </p:spPr>
        <p:txBody>
          <a:bodyPr/>
          <a:lstStyle/>
          <a:p>
            <a:endParaRPr lang="en-ZA"/>
          </a:p>
        </p:txBody>
      </p:sp>
      <p:pic>
        <p:nvPicPr>
          <p:cNvPr id="7" name="Image 0" descr="/home/claude/assets/icon_music_white.png"/>
          <p:cNvPicPr>
            <a:picLocks noChangeAspect="1"/>
          </p:cNvPicPr>
          <p:nvPr/>
        </p:nvPicPr>
        <p:blipFill>
          <a:blip r:embed="rId4"/>
          <a:stretch>
            <a:fillRect/>
          </a:stretch>
        </p:blipFill>
        <p:spPr>
          <a:xfrm>
            <a:off x="7688732" y="1964588"/>
            <a:ext cx="304495" cy="304495"/>
          </a:xfrm>
          <a:prstGeom prst="rect">
            <a:avLst/>
          </a:prstGeom>
        </p:spPr>
      </p:pic>
      <p:sp>
        <p:nvSpPr>
          <p:cNvPr id="8" name="Text 4"/>
          <p:cNvSpPr/>
          <p:nvPr/>
        </p:nvSpPr>
        <p:spPr>
          <a:xfrm>
            <a:off x="8183880" y="1819656"/>
            <a:ext cx="3337560" cy="1042416"/>
          </a:xfrm>
          <a:prstGeom prst="rect">
            <a:avLst/>
          </a:prstGeom>
          <a:noFill/>
          <a:ln/>
        </p:spPr>
        <p:txBody>
          <a:bodyPr wrap="square" rtlCol="0" anchor="ctr"/>
          <a:lstStyle/>
          <a:p>
            <a:pPr marL="0" indent="0">
              <a:lnSpc>
                <a:spcPts val="1500"/>
              </a:lnSpc>
              <a:buNone/>
            </a:pPr>
            <a:r>
              <a:rPr lang="en-US" sz="1150" dirty="0">
                <a:solidFill>
                  <a:srgbClr val="2A2A3C"/>
                </a:solidFill>
                <a:latin typeface="Calibri" pitchFamily="34" charset="0"/>
                <a:ea typeface="Calibri" pitchFamily="34" charset="-122"/>
                <a:cs typeface="Calibri" pitchFamily="34" charset="-120"/>
              </a:rPr>
              <a:t>Anchor Monday programming around Channel O &amp; Trace TV–style music/entertainment blocks</a:t>
            </a:r>
            <a:endParaRPr lang="en-US" sz="1150" dirty="0"/>
          </a:p>
        </p:txBody>
      </p:sp>
      <p:sp>
        <p:nvSpPr>
          <p:cNvPr id="9" name="Shape 5"/>
          <p:cNvSpPr/>
          <p:nvPr/>
        </p:nvSpPr>
        <p:spPr>
          <a:xfrm>
            <a:off x="7406640" y="3172968"/>
            <a:ext cx="4251960" cy="1298448"/>
          </a:xfrm>
          <a:prstGeom prst="roundRect">
            <a:avLst>
              <a:gd name="adj" fmla="val 6338"/>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0" name="Shape 6"/>
          <p:cNvSpPr/>
          <p:nvPr/>
        </p:nvSpPr>
        <p:spPr>
          <a:xfrm>
            <a:off x="7635240" y="3392424"/>
            <a:ext cx="411480" cy="411480"/>
          </a:xfrm>
          <a:prstGeom prst="ellipse">
            <a:avLst/>
          </a:prstGeom>
          <a:solidFill>
            <a:srgbClr val="2B1E6B"/>
          </a:solidFill>
          <a:ln/>
        </p:spPr>
        <p:txBody>
          <a:bodyPr/>
          <a:lstStyle/>
          <a:p>
            <a:endParaRPr lang="en-ZA"/>
          </a:p>
        </p:txBody>
      </p:sp>
      <p:pic>
        <p:nvPicPr>
          <p:cNvPr id="11" name="Image 1" descr="/home/claude/assets/icon_clock_white.png"/>
          <p:cNvPicPr>
            <a:picLocks noChangeAspect="1"/>
          </p:cNvPicPr>
          <p:nvPr/>
        </p:nvPicPr>
        <p:blipFill>
          <a:blip r:embed="rId5"/>
          <a:stretch>
            <a:fillRect/>
          </a:stretch>
        </p:blipFill>
        <p:spPr>
          <a:xfrm>
            <a:off x="7688732" y="3445916"/>
            <a:ext cx="304495" cy="304495"/>
          </a:xfrm>
          <a:prstGeom prst="rect">
            <a:avLst/>
          </a:prstGeom>
        </p:spPr>
      </p:pic>
      <p:sp>
        <p:nvSpPr>
          <p:cNvPr id="12" name="Text 7"/>
          <p:cNvSpPr/>
          <p:nvPr/>
        </p:nvSpPr>
        <p:spPr>
          <a:xfrm>
            <a:off x="8183880" y="3300984"/>
            <a:ext cx="3337560" cy="1042416"/>
          </a:xfrm>
          <a:prstGeom prst="rect">
            <a:avLst/>
          </a:prstGeom>
          <a:noFill/>
          <a:ln/>
        </p:spPr>
        <p:txBody>
          <a:bodyPr wrap="square" rtlCol="0" anchor="ctr"/>
          <a:lstStyle/>
          <a:p>
            <a:pPr marL="0" indent="0">
              <a:lnSpc>
                <a:spcPts val="1500"/>
              </a:lnSpc>
              <a:buNone/>
            </a:pPr>
            <a:r>
              <a:rPr lang="en-US" sz="1150" dirty="0">
                <a:solidFill>
                  <a:srgbClr val="2A2A3C"/>
                </a:solidFill>
                <a:latin typeface="Calibri" pitchFamily="34" charset="0"/>
                <a:ea typeface="Calibri" pitchFamily="34" charset="-122"/>
                <a:cs typeface="Calibri" pitchFamily="34" charset="-120"/>
              </a:rPr>
              <a:t>Schedule promoted content for the 20:00–23:00 window — Monday's actual peak, not 17:00</a:t>
            </a:r>
            <a:endParaRPr lang="en-US" sz="1150" dirty="0"/>
          </a:p>
        </p:txBody>
      </p:sp>
      <p:sp>
        <p:nvSpPr>
          <p:cNvPr id="13" name="Shape 8"/>
          <p:cNvSpPr/>
          <p:nvPr/>
        </p:nvSpPr>
        <p:spPr>
          <a:xfrm>
            <a:off x="7406640" y="4654296"/>
            <a:ext cx="4251960" cy="1298448"/>
          </a:xfrm>
          <a:prstGeom prst="roundRect">
            <a:avLst>
              <a:gd name="adj" fmla="val 6338"/>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4" name="Shape 9"/>
          <p:cNvSpPr/>
          <p:nvPr/>
        </p:nvSpPr>
        <p:spPr>
          <a:xfrm>
            <a:off x="7635240" y="4873752"/>
            <a:ext cx="411480" cy="411480"/>
          </a:xfrm>
          <a:prstGeom prst="ellipse">
            <a:avLst/>
          </a:prstGeom>
          <a:solidFill>
            <a:srgbClr val="2B1E6B"/>
          </a:solidFill>
          <a:ln/>
        </p:spPr>
        <p:txBody>
          <a:bodyPr/>
          <a:lstStyle/>
          <a:p>
            <a:endParaRPr lang="en-ZA"/>
          </a:p>
        </p:txBody>
      </p:sp>
      <p:pic>
        <p:nvPicPr>
          <p:cNvPr id="15" name="Image 2" descr="/home/claude/assets/icon_zap_white.png"/>
          <p:cNvPicPr>
            <a:picLocks noChangeAspect="1"/>
          </p:cNvPicPr>
          <p:nvPr/>
        </p:nvPicPr>
        <p:blipFill>
          <a:blip r:embed="rId6"/>
          <a:stretch>
            <a:fillRect/>
          </a:stretch>
        </p:blipFill>
        <p:spPr>
          <a:xfrm>
            <a:off x="7688732" y="4927244"/>
            <a:ext cx="304495" cy="304495"/>
          </a:xfrm>
          <a:prstGeom prst="rect">
            <a:avLst/>
          </a:prstGeom>
        </p:spPr>
      </p:pic>
      <p:sp>
        <p:nvSpPr>
          <p:cNvPr id="16" name="Text 10"/>
          <p:cNvSpPr/>
          <p:nvPr/>
        </p:nvSpPr>
        <p:spPr>
          <a:xfrm>
            <a:off x="8183880" y="4782312"/>
            <a:ext cx="3337560" cy="1042416"/>
          </a:xfrm>
          <a:prstGeom prst="rect">
            <a:avLst/>
          </a:prstGeom>
          <a:noFill/>
          <a:ln/>
        </p:spPr>
        <p:txBody>
          <a:bodyPr wrap="square" rtlCol="0" anchor="ctr"/>
          <a:lstStyle/>
          <a:p>
            <a:pPr marL="0" indent="0">
              <a:lnSpc>
                <a:spcPts val="1500"/>
              </a:lnSpc>
              <a:buNone/>
            </a:pPr>
            <a:r>
              <a:rPr lang="en-US" sz="1150" dirty="0">
                <a:solidFill>
                  <a:srgbClr val="2A2A3C"/>
                </a:solidFill>
                <a:latin typeface="Calibri" pitchFamily="34" charset="0"/>
                <a:ea typeface="Calibri" pitchFamily="34" charset="-122"/>
                <a:cs typeface="Calibri" pitchFamily="34" charset="-120"/>
              </a:rPr>
              <a:t>Time push notifications and reminders to Monday evening, when this audience is actually online</a:t>
            </a:r>
            <a:endParaRPr lang="en-US" sz="1150" dirty="0"/>
          </a:p>
        </p:txBody>
      </p:sp>
      <p:sp>
        <p:nvSpPr>
          <p:cNvPr id="18" name="Text 11"/>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9" name="Text 12"/>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GROWING THE BASE</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Six Initiatives To Grow Subscribers</a:t>
            </a:r>
            <a:endParaRPr lang="en-US" sz="3200" dirty="0"/>
          </a:p>
        </p:txBody>
      </p:sp>
      <p:sp>
        <p:nvSpPr>
          <p:cNvPr id="4" name="Shape 2"/>
          <p:cNvSpPr/>
          <p:nvPr/>
        </p:nvSpPr>
        <p:spPr>
          <a:xfrm>
            <a:off x="548640" y="1691640"/>
            <a:ext cx="361188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5" name="Shape 3"/>
          <p:cNvSpPr/>
          <p:nvPr/>
        </p:nvSpPr>
        <p:spPr>
          <a:xfrm>
            <a:off x="768096" y="1911096"/>
            <a:ext cx="438912" cy="438912"/>
          </a:xfrm>
          <a:prstGeom prst="ellipse">
            <a:avLst/>
          </a:prstGeom>
          <a:solidFill>
            <a:srgbClr val="2B1E6B"/>
          </a:solidFill>
          <a:ln/>
        </p:spPr>
        <p:txBody>
          <a:bodyPr/>
          <a:lstStyle/>
          <a:p>
            <a:endParaRPr lang="en-ZA"/>
          </a:p>
        </p:txBody>
      </p:sp>
      <p:pic>
        <p:nvPicPr>
          <p:cNvPr id="6" name="Image 0" descr="/home/claude/assets/icon_target_white.png"/>
          <p:cNvPicPr>
            <a:picLocks noChangeAspect="1"/>
          </p:cNvPicPr>
          <p:nvPr/>
        </p:nvPicPr>
        <p:blipFill>
          <a:blip r:embed="rId3"/>
          <a:stretch>
            <a:fillRect/>
          </a:stretch>
        </p:blipFill>
        <p:spPr>
          <a:xfrm>
            <a:off x="825155" y="1968155"/>
            <a:ext cx="324795" cy="324795"/>
          </a:xfrm>
          <a:prstGeom prst="rect">
            <a:avLst/>
          </a:prstGeom>
        </p:spPr>
      </p:pic>
      <p:sp>
        <p:nvSpPr>
          <p:cNvPr id="7" name="Text 4"/>
          <p:cNvSpPr/>
          <p:nvPr/>
        </p:nvSpPr>
        <p:spPr>
          <a:xfrm>
            <a:off x="768096" y="2478024"/>
            <a:ext cx="3200400" cy="36576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Target the 25–44 core</a:t>
            </a:r>
            <a:endParaRPr lang="en-US" sz="1350" dirty="0"/>
          </a:p>
        </p:txBody>
      </p:sp>
      <p:sp>
        <p:nvSpPr>
          <p:cNvPr id="8" name="Text 5"/>
          <p:cNvSpPr/>
          <p:nvPr/>
        </p:nvSpPr>
        <p:spPr>
          <a:xfrm>
            <a:off x="768096" y="2843784"/>
            <a:ext cx="3200400" cy="749808"/>
          </a:xfrm>
          <a:prstGeom prst="rect">
            <a:avLst/>
          </a:prstGeom>
          <a:noFill/>
          <a:ln/>
        </p:spPr>
        <p:txBody>
          <a:bodyPr wrap="square" rtlCol="0" anchor="ctr"/>
          <a:lstStyle/>
          <a:p>
            <a:pPr marL="0" indent="0">
              <a:lnSpc>
                <a:spcPts val="1350"/>
              </a:lnSpc>
              <a:buNone/>
            </a:pPr>
            <a:r>
              <a:rPr lang="en-US" sz="1030" dirty="0">
                <a:solidFill>
                  <a:srgbClr val="6B6B7D"/>
                </a:solidFill>
                <a:latin typeface="Calibri" pitchFamily="34" charset="0"/>
                <a:ea typeface="Calibri" pitchFamily="34" charset="-122"/>
                <a:cs typeface="Calibri" pitchFamily="34" charset="-120"/>
              </a:rPr>
              <a:t>Content bundles and offers built around BrightTV's largest, most engaged demographic</a:t>
            </a:r>
            <a:endParaRPr lang="en-US" sz="1030" dirty="0"/>
          </a:p>
        </p:txBody>
      </p:sp>
      <p:sp>
        <p:nvSpPr>
          <p:cNvPr id="9" name="Shape 6"/>
          <p:cNvSpPr/>
          <p:nvPr/>
        </p:nvSpPr>
        <p:spPr>
          <a:xfrm>
            <a:off x="4379976" y="1691640"/>
            <a:ext cx="361188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0" name="Shape 7"/>
          <p:cNvSpPr/>
          <p:nvPr/>
        </p:nvSpPr>
        <p:spPr>
          <a:xfrm>
            <a:off x="4599432" y="1911096"/>
            <a:ext cx="438912" cy="438912"/>
          </a:xfrm>
          <a:prstGeom prst="ellipse">
            <a:avLst/>
          </a:prstGeom>
          <a:solidFill>
            <a:srgbClr val="2B1E6B"/>
          </a:solidFill>
          <a:ln/>
        </p:spPr>
        <p:txBody>
          <a:bodyPr/>
          <a:lstStyle/>
          <a:p>
            <a:endParaRPr lang="en-ZA"/>
          </a:p>
        </p:txBody>
      </p:sp>
      <p:pic>
        <p:nvPicPr>
          <p:cNvPr id="11" name="Image 1" descr="/home/claude/assets/icon_heart_white.png"/>
          <p:cNvPicPr>
            <a:picLocks noChangeAspect="1"/>
          </p:cNvPicPr>
          <p:nvPr/>
        </p:nvPicPr>
        <p:blipFill>
          <a:blip r:embed="rId4"/>
          <a:stretch>
            <a:fillRect/>
          </a:stretch>
        </p:blipFill>
        <p:spPr>
          <a:xfrm>
            <a:off x="4656491" y="1968155"/>
            <a:ext cx="324795" cy="324795"/>
          </a:xfrm>
          <a:prstGeom prst="rect">
            <a:avLst/>
          </a:prstGeom>
        </p:spPr>
      </p:pic>
      <p:sp>
        <p:nvSpPr>
          <p:cNvPr id="12" name="Text 8"/>
          <p:cNvSpPr/>
          <p:nvPr/>
        </p:nvSpPr>
        <p:spPr>
          <a:xfrm>
            <a:off x="4599432" y="2478024"/>
            <a:ext cx="3200400" cy="36576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Close the gender gap</a:t>
            </a:r>
            <a:endParaRPr lang="en-US" sz="1350" dirty="0"/>
          </a:p>
        </p:txBody>
      </p:sp>
      <p:sp>
        <p:nvSpPr>
          <p:cNvPr id="13" name="Text 9"/>
          <p:cNvSpPr/>
          <p:nvPr/>
        </p:nvSpPr>
        <p:spPr>
          <a:xfrm>
            <a:off x="4599432" y="2843784"/>
            <a:ext cx="3200400" cy="749808"/>
          </a:xfrm>
          <a:prstGeom prst="rect">
            <a:avLst/>
          </a:prstGeom>
          <a:noFill/>
          <a:ln/>
        </p:spPr>
        <p:txBody>
          <a:bodyPr wrap="square" rtlCol="0" anchor="ctr"/>
          <a:lstStyle/>
          <a:p>
            <a:pPr marL="0" indent="0">
              <a:lnSpc>
                <a:spcPts val="1350"/>
              </a:lnSpc>
              <a:buNone/>
            </a:pPr>
            <a:r>
              <a:rPr lang="en-US" sz="1030" dirty="0">
                <a:solidFill>
                  <a:srgbClr val="6B6B7D"/>
                </a:solidFill>
                <a:latin typeface="Calibri" pitchFamily="34" charset="0"/>
                <a:ea typeface="Calibri" pitchFamily="34" charset="-122"/>
                <a:cs typeface="Calibri" pitchFamily="34" charset="-120"/>
              </a:rPr>
              <a:t>Female-focused content and marketing to grow the 11.1% female share</a:t>
            </a:r>
            <a:endParaRPr lang="en-US" sz="1030" dirty="0"/>
          </a:p>
        </p:txBody>
      </p:sp>
      <p:sp>
        <p:nvSpPr>
          <p:cNvPr id="14" name="Shape 10"/>
          <p:cNvSpPr/>
          <p:nvPr/>
        </p:nvSpPr>
        <p:spPr>
          <a:xfrm>
            <a:off x="8211312" y="1691640"/>
            <a:ext cx="361188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5" name="Shape 11"/>
          <p:cNvSpPr/>
          <p:nvPr/>
        </p:nvSpPr>
        <p:spPr>
          <a:xfrm>
            <a:off x="8430768" y="1911096"/>
            <a:ext cx="438912" cy="438912"/>
          </a:xfrm>
          <a:prstGeom prst="ellipse">
            <a:avLst/>
          </a:prstGeom>
          <a:solidFill>
            <a:srgbClr val="2B1E6B"/>
          </a:solidFill>
          <a:ln/>
        </p:spPr>
        <p:txBody>
          <a:bodyPr/>
          <a:lstStyle/>
          <a:p>
            <a:endParaRPr lang="en-ZA"/>
          </a:p>
        </p:txBody>
      </p:sp>
      <p:pic>
        <p:nvPicPr>
          <p:cNvPr id="16" name="Image 2" descr="/home/claude/assets/icon_userplus_white.png"/>
          <p:cNvPicPr>
            <a:picLocks noChangeAspect="1"/>
          </p:cNvPicPr>
          <p:nvPr/>
        </p:nvPicPr>
        <p:blipFill>
          <a:blip r:embed="rId5"/>
          <a:stretch>
            <a:fillRect/>
          </a:stretch>
        </p:blipFill>
        <p:spPr>
          <a:xfrm>
            <a:off x="8487827" y="1968155"/>
            <a:ext cx="324795" cy="324795"/>
          </a:xfrm>
          <a:prstGeom prst="rect">
            <a:avLst/>
          </a:prstGeom>
        </p:spPr>
      </p:pic>
      <p:sp>
        <p:nvSpPr>
          <p:cNvPr id="17" name="Text 12"/>
          <p:cNvSpPr/>
          <p:nvPr/>
        </p:nvSpPr>
        <p:spPr>
          <a:xfrm>
            <a:off x="8430768" y="2478024"/>
            <a:ext cx="3200400" cy="36576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Advocacy &amp; referral</a:t>
            </a:r>
            <a:endParaRPr lang="en-US" sz="1350" dirty="0"/>
          </a:p>
        </p:txBody>
      </p:sp>
      <p:sp>
        <p:nvSpPr>
          <p:cNvPr id="18" name="Text 13"/>
          <p:cNvSpPr/>
          <p:nvPr/>
        </p:nvSpPr>
        <p:spPr>
          <a:xfrm>
            <a:off x="8430768" y="2843784"/>
            <a:ext cx="3200400" cy="749808"/>
          </a:xfrm>
          <a:prstGeom prst="rect">
            <a:avLst/>
          </a:prstGeom>
          <a:noFill/>
          <a:ln/>
        </p:spPr>
        <p:txBody>
          <a:bodyPr wrap="square" rtlCol="0" anchor="ctr"/>
          <a:lstStyle/>
          <a:p>
            <a:pPr marL="0" indent="0">
              <a:lnSpc>
                <a:spcPts val="1350"/>
              </a:lnSpc>
              <a:buNone/>
            </a:pPr>
            <a:r>
              <a:rPr lang="en-US" sz="1030" dirty="0">
                <a:solidFill>
                  <a:srgbClr val="6B6B7D"/>
                </a:solidFill>
                <a:latin typeface="Calibri" pitchFamily="34" charset="0"/>
                <a:ea typeface="Calibri" pitchFamily="34" charset="-122"/>
                <a:cs typeface="Calibri" pitchFamily="34" charset="-120"/>
              </a:rPr>
              <a:t>Mobilise highly-engaged 18–34 users as referral champions</a:t>
            </a:r>
            <a:endParaRPr lang="en-US" sz="1030" dirty="0"/>
          </a:p>
        </p:txBody>
      </p:sp>
      <p:sp>
        <p:nvSpPr>
          <p:cNvPr id="19" name="Shape 14"/>
          <p:cNvSpPr/>
          <p:nvPr/>
        </p:nvSpPr>
        <p:spPr>
          <a:xfrm>
            <a:off x="548640" y="3877056"/>
            <a:ext cx="361188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20" name="Shape 15"/>
          <p:cNvSpPr/>
          <p:nvPr/>
        </p:nvSpPr>
        <p:spPr>
          <a:xfrm>
            <a:off x="768096" y="4096512"/>
            <a:ext cx="438912" cy="438912"/>
          </a:xfrm>
          <a:prstGeom prst="ellipse">
            <a:avLst/>
          </a:prstGeom>
          <a:solidFill>
            <a:srgbClr val="2B1E6B"/>
          </a:solidFill>
          <a:ln/>
        </p:spPr>
        <p:txBody>
          <a:bodyPr/>
          <a:lstStyle/>
          <a:p>
            <a:endParaRPr lang="en-ZA"/>
          </a:p>
        </p:txBody>
      </p:sp>
      <p:pic>
        <p:nvPicPr>
          <p:cNvPr id="21" name="Image 3" descr="/home/claude/assets/icon_mappin_white.png"/>
          <p:cNvPicPr>
            <a:picLocks noChangeAspect="1"/>
          </p:cNvPicPr>
          <p:nvPr/>
        </p:nvPicPr>
        <p:blipFill>
          <a:blip r:embed="rId6"/>
          <a:stretch>
            <a:fillRect/>
          </a:stretch>
        </p:blipFill>
        <p:spPr>
          <a:xfrm>
            <a:off x="825155" y="4153571"/>
            <a:ext cx="324795" cy="324795"/>
          </a:xfrm>
          <a:prstGeom prst="rect">
            <a:avLst/>
          </a:prstGeom>
        </p:spPr>
      </p:pic>
      <p:sp>
        <p:nvSpPr>
          <p:cNvPr id="22" name="Text 16"/>
          <p:cNvSpPr/>
          <p:nvPr/>
        </p:nvSpPr>
        <p:spPr>
          <a:xfrm>
            <a:off x="768096" y="4663440"/>
            <a:ext cx="3200400" cy="36576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Regional expansion</a:t>
            </a:r>
            <a:endParaRPr lang="en-US" sz="1350" dirty="0"/>
          </a:p>
        </p:txBody>
      </p:sp>
      <p:sp>
        <p:nvSpPr>
          <p:cNvPr id="23" name="Text 17"/>
          <p:cNvSpPr/>
          <p:nvPr/>
        </p:nvSpPr>
        <p:spPr>
          <a:xfrm>
            <a:off x="768096" y="5029200"/>
            <a:ext cx="3200400" cy="749808"/>
          </a:xfrm>
          <a:prstGeom prst="rect">
            <a:avLst/>
          </a:prstGeom>
          <a:noFill/>
          <a:ln/>
        </p:spPr>
        <p:txBody>
          <a:bodyPr wrap="square" rtlCol="0" anchor="ctr"/>
          <a:lstStyle/>
          <a:p>
            <a:pPr marL="0" indent="0">
              <a:lnSpc>
                <a:spcPts val="1350"/>
              </a:lnSpc>
              <a:buNone/>
            </a:pPr>
            <a:r>
              <a:rPr lang="en-US" sz="1030" dirty="0">
                <a:solidFill>
                  <a:srgbClr val="6B6B7D"/>
                </a:solidFill>
                <a:latin typeface="Calibri" pitchFamily="34" charset="0"/>
                <a:ea typeface="Calibri" pitchFamily="34" charset="-122"/>
                <a:cs typeface="Calibri" pitchFamily="34" charset="-120"/>
              </a:rPr>
              <a:t>Targeted campaigns in under-represented provinces beyond Gauteng</a:t>
            </a:r>
            <a:endParaRPr lang="en-US" sz="1030" dirty="0"/>
          </a:p>
        </p:txBody>
      </p:sp>
      <p:sp>
        <p:nvSpPr>
          <p:cNvPr id="24" name="Shape 18"/>
          <p:cNvSpPr/>
          <p:nvPr/>
        </p:nvSpPr>
        <p:spPr>
          <a:xfrm>
            <a:off x="4379976" y="3877056"/>
            <a:ext cx="361188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25" name="Shape 19"/>
          <p:cNvSpPr/>
          <p:nvPr/>
        </p:nvSpPr>
        <p:spPr>
          <a:xfrm>
            <a:off x="4599432" y="4096512"/>
            <a:ext cx="438912" cy="438912"/>
          </a:xfrm>
          <a:prstGeom prst="ellipse">
            <a:avLst/>
          </a:prstGeom>
          <a:solidFill>
            <a:srgbClr val="2B1E6B"/>
          </a:solidFill>
          <a:ln/>
        </p:spPr>
        <p:txBody>
          <a:bodyPr/>
          <a:lstStyle/>
          <a:p>
            <a:endParaRPr lang="en-ZA"/>
          </a:p>
        </p:txBody>
      </p:sp>
      <p:pic>
        <p:nvPicPr>
          <p:cNvPr id="26" name="Image 4" descr="/home/claude/assets/icon_zap_white.png"/>
          <p:cNvPicPr>
            <a:picLocks noChangeAspect="1"/>
          </p:cNvPicPr>
          <p:nvPr/>
        </p:nvPicPr>
        <p:blipFill>
          <a:blip r:embed="rId7"/>
          <a:stretch>
            <a:fillRect/>
          </a:stretch>
        </p:blipFill>
        <p:spPr>
          <a:xfrm>
            <a:off x="4656491" y="4153571"/>
            <a:ext cx="324795" cy="324795"/>
          </a:xfrm>
          <a:prstGeom prst="rect">
            <a:avLst/>
          </a:prstGeom>
        </p:spPr>
      </p:pic>
      <p:sp>
        <p:nvSpPr>
          <p:cNvPr id="27" name="Text 20"/>
          <p:cNvSpPr/>
          <p:nvPr/>
        </p:nvSpPr>
        <p:spPr>
          <a:xfrm>
            <a:off x="4599432" y="4663440"/>
            <a:ext cx="3200400" cy="36576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Promote major events</a:t>
            </a:r>
            <a:endParaRPr lang="en-US" sz="1350" dirty="0"/>
          </a:p>
        </p:txBody>
      </p:sp>
      <p:sp>
        <p:nvSpPr>
          <p:cNvPr id="28" name="Text 21"/>
          <p:cNvSpPr/>
          <p:nvPr/>
        </p:nvSpPr>
        <p:spPr>
          <a:xfrm>
            <a:off x="4599432" y="5029200"/>
            <a:ext cx="3200400" cy="749808"/>
          </a:xfrm>
          <a:prstGeom prst="rect">
            <a:avLst/>
          </a:prstGeom>
          <a:noFill/>
          <a:ln/>
        </p:spPr>
        <p:txBody>
          <a:bodyPr wrap="square" rtlCol="0" anchor="ctr"/>
          <a:lstStyle/>
          <a:p>
            <a:pPr marL="0" indent="0">
              <a:lnSpc>
                <a:spcPts val="1350"/>
              </a:lnSpc>
              <a:buNone/>
            </a:pPr>
            <a:r>
              <a:rPr lang="en-US" sz="1030" dirty="0">
                <a:solidFill>
                  <a:srgbClr val="6B6B7D"/>
                </a:solidFill>
                <a:latin typeface="Calibri" pitchFamily="34" charset="0"/>
                <a:ea typeface="Calibri" pitchFamily="34" charset="-122"/>
                <a:cs typeface="Calibri" pitchFamily="34" charset="-120"/>
              </a:rPr>
              <a:t>Lead acquisition campaigns with proven high-draw sport content (e.g. ICC CWC)</a:t>
            </a:r>
            <a:endParaRPr lang="en-US" sz="1030" dirty="0"/>
          </a:p>
        </p:txBody>
      </p:sp>
      <p:sp>
        <p:nvSpPr>
          <p:cNvPr id="29" name="Shape 22"/>
          <p:cNvSpPr/>
          <p:nvPr/>
        </p:nvSpPr>
        <p:spPr>
          <a:xfrm>
            <a:off x="8211312" y="3877056"/>
            <a:ext cx="3611880" cy="1965960"/>
          </a:xfrm>
          <a:prstGeom prst="roundRect">
            <a:avLst>
              <a:gd name="adj" fmla="val 4651"/>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30" name="Shape 23"/>
          <p:cNvSpPr/>
          <p:nvPr/>
        </p:nvSpPr>
        <p:spPr>
          <a:xfrm>
            <a:off x="8430768" y="4096512"/>
            <a:ext cx="438912" cy="438912"/>
          </a:xfrm>
          <a:prstGeom prst="ellipse">
            <a:avLst/>
          </a:prstGeom>
          <a:solidFill>
            <a:srgbClr val="2B1E6B"/>
          </a:solidFill>
          <a:ln/>
        </p:spPr>
        <p:txBody>
          <a:bodyPr/>
          <a:lstStyle/>
          <a:p>
            <a:endParaRPr lang="en-ZA"/>
          </a:p>
        </p:txBody>
      </p:sp>
      <p:pic>
        <p:nvPicPr>
          <p:cNvPr id="31" name="Image 5" descr="/home/claude/assets/icon_music_white.png"/>
          <p:cNvPicPr>
            <a:picLocks noChangeAspect="1"/>
          </p:cNvPicPr>
          <p:nvPr/>
        </p:nvPicPr>
        <p:blipFill>
          <a:blip r:embed="rId8"/>
          <a:stretch>
            <a:fillRect/>
          </a:stretch>
        </p:blipFill>
        <p:spPr>
          <a:xfrm>
            <a:off x="8487827" y="4153571"/>
            <a:ext cx="324795" cy="324795"/>
          </a:xfrm>
          <a:prstGeom prst="rect">
            <a:avLst/>
          </a:prstGeom>
        </p:spPr>
      </p:pic>
      <p:sp>
        <p:nvSpPr>
          <p:cNvPr id="32" name="Text 24"/>
          <p:cNvSpPr/>
          <p:nvPr/>
        </p:nvSpPr>
        <p:spPr>
          <a:xfrm>
            <a:off x="8430768" y="4663440"/>
            <a:ext cx="3200400" cy="36576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Monday engagement push</a:t>
            </a:r>
            <a:endParaRPr lang="en-US" sz="1350" dirty="0"/>
          </a:p>
        </p:txBody>
      </p:sp>
      <p:sp>
        <p:nvSpPr>
          <p:cNvPr id="33" name="Text 25"/>
          <p:cNvSpPr/>
          <p:nvPr/>
        </p:nvSpPr>
        <p:spPr>
          <a:xfrm>
            <a:off x="8430768" y="5029200"/>
            <a:ext cx="3200400" cy="749808"/>
          </a:xfrm>
          <a:prstGeom prst="rect">
            <a:avLst/>
          </a:prstGeom>
          <a:noFill/>
          <a:ln/>
        </p:spPr>
        <p:txBody>
          <a:bodyPr wrap="square" rtlCol="0" anchor="ctr"/>
          <a:lstStyle/>
          <a:p>
            <a:pPr marL="0" indent="0">
              <a:lnSpc>
                <a:spcPts val="1350"/>
              </a:lnSpc>
              <a:buNone/>
            </a:pPr>
            <a:r>
              <a:rPr lang="en-US" sz="1030" dirty="0">
                <a:solidFill>
                  <a:srgbClr val="6B6B7D"/>
                </a:solidFill>
                <a:latin typeface="Calibri" pitchFamily="34" charset="0"/>
                <a:ea typeface="Calibri" pitchFamily="34" charset="-122"/>
                <a:cs typeface="Calibri" pitchFamily="34" charset="-120"/>
              </a:rPr>
              <a:t>Entertainment programming + evening-timed campaigns to lift the weakest day</a:t>
            </a:r>
            <a:endParaRPr lang="en-US" sz="1030" dirty="0"/>
          </a:p>
        </p:txBody>
      </p:sp>
      <p:sp>
        <p:nvSpPr>
          <p:cNvPr id="35" name="Text 26"/>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36" name="Text 27"/>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BEYOND THE SLIDES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An Interactive Dashboard For The CVM Team</a:t>
            </a:r>
            <a:endParaRPr lang="en-US" sz="3200" dirty="0"/>
          </a:p>
        </p:txBody>
      </p:sp>
      <p:sp>
        <p:nvSpPr>
          <p:cNvPr id="4" name="Shape 2"/>
          <p:cNvSpPr/>
          <p:nvPr/>
        </p:nvSpPr>
        <p:spPr>
          <a:xfrm>
            <a:off x="548640" y="1600200"/>
            <a:ext cx="7863840" cy="4617720"/>
          </a:xfrm>
          <a:prstGeom prst="roundRect">
            <a:avLst>
              <a:gd name="adj" fmla="val 1188"/>
            </a:avLst>
          </a:prstGeom>
          <a:solidFill>
            <a:srgbClr val="FFFFFF"/>
          </a:solidFill>
          <a:ln/>
          <a:effectLst>
            <a:outerShdw blurRad="101600" dist="25400" dir="5400000" algn="bl" rotWithShape="0">
              <a:srgbClr val="5B4FA8">
                <a:alpha val="14000"/>
              </a:srgbClr>
            </a:outerShdw>
          </a:effectLst>
        </p:spPr>
        <p:txBody>
          <a:bodyPr/>
          <a:lstStyle/>
          <a:p>
            <a:endParaRPr lang="en-ZA"/>
          </a:p>
        </p:txBody>
      </p:sp>
      <p:pic>
        <p:nvPicPr>
          <p:cNvPr id="5" name="Image 0" descr="/home/claude/assets/dashboard_mockup.png"/>
          <p:cNvPicPr>
            <a:picLocks noChangeAspect="1"/>
          </p:cNvPicPr>
          <p:nvPr/>
        </p:nvPicPr>
        <p:blipFill>
          <a:blip r:embed="rId3"/>
          <a:stretch>
            <a:fillRect/>
          </a:stretch>
        </p:blipFill>
        <p:spPr>
          <a:xfrm>
            <a:off x="685800" y="1737360"/>
            <a:ext cx="7589520" cy="4343400"/>
          </a:xfrm>
          <a:prstGeom prst="rect">
            <a:avLst/>
          </a:prstGeom>
        </p:spPr>
      </p:pic>
      <p:sp>
        <p:nvSpPr>
          <p:cNvPr id="6" name="Shape 3"/>
          <p:cNvSpPr/>
          <p:nvPr/>
        </p:nvSpPr>
        <p:spPr>
          <a:xfrm>
            <a:off x="8686800" y="1600200"/>
            <a:ext cx="2971800" cy="4617720"/>
          </a:xfrm>
          <a:prstGeom prst="roundRect">
            <a:avLst>
              <a:gd name="adj" fmla="val 2769"/>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7" name="Shape 4"/>
          <p:cNvSpPr/>
          <p:nvPr/>
        </p:nvSpPr>
        <p:spPr>
          <a:xfrm>
            <a:off x="8942832" y="1828800"/>
            <a:ext cx="457200" cy="457200"/>
          </a:xfrm>
          <a:prstGeom prst="ellipse">
            <a:avLst/>
          </a:prstGeom>
          <a:solidFill>
            <a:srgbClr val="2B1E6B"/>
          </a:solidFill>
          <a:ln/>
        </p:spPr>
        <p:txBody>
          <a:bodyPr/>
          <a:lstStyle/>
          <a:p>
            <a:endParaRPr lang="en-ZA"/>
          </a:p>
        </p:txBody>
      </p:sp>
      <p:pic>
        <p:nvPicPr>
          <p:cNvPr id="8" name="Image 1" descr="/home/claude/assets/icon_compass_white.png"/>
          <p:cNvPicPr>
            <a:picLocks noChangeAspect="1"/>
          </p:cNvPicPr>
          <p:nvPr/>
        </p:nvPicPr>
        <p:blipFill>
          <a:blip r:embed="rId4"/>
          <a:stretch>
            <a:fillRect/>
          </a:stretch>
        </p:blipFill>
        <p:spPr>
          <a:xfrm>
            <a:off x="9002268" y="1888236"/>
            <a:ext cx="338328" cy="338328"/>
          </a:xfrm>
          <a:prstGeom prst="rect">
            <a:avLst/>
          </a:prstGeom>
        </p:spPr>
      </p:pic>
      <p:sp>
        <p:nvSpPr>
          <p:cNvPr id="9" name="Text 5"/>
          <p:cNvSpPr/>
          <p:nvPr/>
        </p:nvSpPr>
        <p:spPr>
          <a:xfrm>
            <a:off x="8942832" y="2395728"/>
            <a:ext cx="2514600" cy="365760"/>
          </a:xfrm>
          <a:prstGeom prst="rect">
            <a:avLst/>
          </a:prstGeom>
          <a:noFill/>
          <a:ln/>
        </p:spPr>
        <p:txBody>
          <a:bodyPr wrap="square" rtlCol="0" anchor="ctr"/>
          <a:lstStyle/>
          <a:p>
            <a:pPr marL="0" indent="0">
              <a:buNone/>
            </a:pPr>
            <a:r>
              <a:rPr lang="en-US" sz="1350" b="1" dirty="0">
                <a:solidFill>
                  <a:srgbClr val="2B1E6B"/>
                </a:solidFill>
                <a:latin typeface="Calibri" pitchFamily="34" charset="0"/>
                <a:ea typeface="Calibri" pitchFamily="34" charset="-122"/>
                <a:cs typeface="Calibri" pitchFamily="34" charset="-120"/>
              </a:rPr>
              <a:t>Concept preview</a:t>
            </a:r>
            <a:endParaRPr lang="en-US" sz="1350" dirty="0"/>
          </a:p>
        </p:txBody>
      </p:sp>
      <p:sp>
        <p:nvSpPr>
          <p:cNvPr id="10" name="Text 6"/>
          <p:cNvSpPr/>
          <p:nvPr/>
        </p:nvSpPr>
        <p:spPr>
          <a:xfrm>
            <a:off x="8942832" y="2761488"/>
            <a:ext cx="2514600" cy="914400"/>
          </a:xfrm>
          <a:prstGeom prst="rect">
            <a:avLst/>
          </a:prstGeom>
          <a:noFill/>
          <a:ln/>
        </p:spPr>
        <p:txBody>
          <a:bodyPr wrap="square" rtlCol="0" anchor="ctr"/>
          <a:lstStyle/>
          <a:p>
            <a:pPr marL="0" indent="0">
              <a:lnSpc>
                <a:spcPts val="1400"/>
              </a:lnSpc>
              <a:buNone/>
            </a:pPr>
            <a:r>
              <a:rPr lang="en-US" sz="1080" dirty="0">
                <a:solidFill>
                  <a:srgbClr val="6B6B7D"/>
                </a:solidFill>
                <a:latin typeface="Calibri" pitchFamily="34" charset="0"/>
                <a:ea typeface="Calibri" pitchFamily="34" charset="-122"/>
                <a:cs typeface="Calibri" pitchFamily="34" charset="-120"/>
              </a:rPr>
              <a:t>Built as a companion concept for this case study, in the spirit of a Lovable-style app.</a:t>
            </a:r>
            <a:endParaRPr lang="en-US" sz="1080" dirty="0"/>
          </a:p>
        </p:txBody>
      </p:sp>
      <p:sp>
        <p:nvSpPr>
          <p:cNvPr id="11" name="Shape 7"/>
          <p:cNvSpPr/>
          <p:nvPr/>
        </p:nvSpPr>
        <p:spPr>
          <a:xfrm>
            <a:off x="8942832" y="3794760"/>
            <a:ext cx="2468880" cy="0"/>
          </a:xfrm>
          <a:prstGeom prst="line">
            <a:avLst/>
          </a:prstGeom>
          <a:noFill/>
          <a:ln w="12700">
            <a:solidFill>
              <a:srgbClr val="E4E1F5"/>
            </a:solidFill>
            <a:prstDash val="solid"/>
          </a:ln>
        </p:spPr>
        <p:txBody>
          <a:bodyPr/>
          <a:lstStyle/>
          <a:p>
            <a:endParaRPr lang="en-ZA"/>
          </a:p>
        </p:txBody>
      </p:sp>
      <p:sp>
        <p:nvSpPr>
          <p:cNvPr id="12" name="Text 8"/>
          <p:cNvSpPr/>
          <p:nvPr/>
        </p:nvSpPr>
        <p:spPr>
          <a:xfrm>
            <a:off x="8942832" y="3977640"/>
            <a:ext cx="2514600" cy="2011680"/>
          </a:xfrm>
          <a:prstGeom prst="rect">
            <a:avLst/>
          </a:prstGeom>
          <a:noFill/>
          <a:ln/>
        </p:spPr>
        <p:txBody>
          <a:bodyPr wrap="square" rtlCol="0" anchor="ctr"/>
          <a:lstStyle/>
          <a:p>
            <a:pPr marL="0" indent="0">
              <a:lnSpc>
                <a:spcPts val="1400"/>
              </a:lnSpc>
              <a:buNone/>
            </a:pPr>
            <a:r>
              <a:rPr lang="en-US" sz="1080" dirty="0">
                <a:solidFill>
                  <a:srgbClr val="6B6B7D"/>
                </a:solidFill>
                <a:latin typeface="Calibri" pitchFamily="34" charset="0"/>
                <a:ea typeface="Calibri" pitchFamily="34" charset="-122"/>
                <a:cs typeface="Calibri" pitchFamily="34" charset="-120"/>
              </a:rPr>
              <a:t>A live build would let the CVM team filter by day, channel, province and demographic in real time — turning this deck into an ongoing, self-serve tool.</a:t>
            </a:r>
            <a:endParaRPr lang="en-US" sz="1080" dirty="0"/>
          </a:p>
        </p:txBody>
      </p:sp>
      <p:sp>
        <p:nvSpPr>
          <p:cNvPr id="14" name="Text 9"/>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15" name="Text 10"/>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E"/>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lgn="l">
              <a:buNone/>
            </a:pPr>
            <a:r>
              <a:rPr lang="en-US" sz="1200" b="1" kern="0" spc="220" dirty="0">
                <a:solidFill>
                  <a:srgbClr val="F5A623"/>
                </a:solidFill>
                <a:latin typeface="Calibri" pitchFamily="34" charset="0"/>
                <a:ea typeface="Calibri" pitchFamily="34" charset="-122"/>
                <a:cs typeface="Calibri" pitchFamily="34" charset="-120"/>
              </a:rPr>
              <a:t>BRINGING IT TOGETHER</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marL="0" indent="0" algn="l">
              <a:buNone/>
            </a:pPr>
            <a:r>
              <a:rPr lang="en-US" sz="3200" b="1" dirty="0">
                <a:solidFill>
                  <a:srgbClr val="2B1E6B"/>
                </a:solidFill>
                <a:latin typeface="Cambria" pitchFamily="34" charset="0"/>
                <a:ea typeface="Cambria" pitchFamily="34" charset="-122"/>
                <a:cs typeface="Cambria" pitchFamily="34" charset="-120"/>
              </a:rPr>
              <a:t>Key Findings &amp; Recommendations</a:t>
            </a:r>
            <a:endParaRPr lang="en-US" sz="3200" dirty="0"/>
          </a:p>
        </p:txBody>
      </p:sp>
      <p:sp>
        <p:nvSpPr>
          <p:cNvPr id="4" name="Shape 2"/>
          <p:cNvSpPr/>
          <p:nvPr/>
        </p:nvSpPr>
        <p:spPr>
          <a:xfrm>
            <a:off x="548640" y="1645920"/>
            <a:ext cx="5440680" cy="4572000"/>
          </a:xfrm>
          <a:prstGeom prst="roundRect">
            <a:avLst>
              <a:gd name="adj" fmla="val 1600"/>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5" name="Text 3"/>
          <p:cNvSpPr/>
          <p:nvPr/>
        </p:nvSpPr>
        <p:spPr>
          <a:xfrm>
            <a:off x="868680" y="1828800"/>
            <a:ext cx="4572000" cy="320040"/>
          </a:xfrm>
          <a:prstGeom prst="rect">
            <a:avLst/>
          </a:prstGeom>
          <a:noFill/>
          <a:ln/>
        </p:spPr>
        <p:txBody>
          <a:bodyPr wrap="square" rtlCol="0" anchor="ctr"/>
          <a:lstStyle/>
          <a:p>
            <a:pPr marL="0" indent="0">
              <a:buNone/>
            </a:pPr>
            <a:r>
              <a:rPr lang="en-US" sz="1200" b="1" kern="0" spc="160" dirty="0">
                <a:solidFill>
                  <a:srgbClr val="F5A623"/>
                </a:solidFill>
                <a:latin typeface="Calibri" pitchFamily="34" charset="0"/>
                <a:ea typeface="Calibri" pitchFamily="34" charset="-122"/>
                <a:cs typeface="Calibri" pitchFamily="34" charset="-120"/>
              </a:rPr>
              <a:t>FINDINGS</a:t>
            </a:r>
            <a:endParaRPr lang="en-US" sz="1200" dirty="0"/>
          </a:p>
        </p:txBody>
      </p:sp>
      <p:sp>
        <p:nvSpPr>
          <p:cNvPr id="6" name="Shape 4"/>
          <p:cNvSpPr/>
          <p:nvPr/>
        </p:nvSpPr>
        <p:spPr>
          <a:xfrm>
            <a:off x="868680" y="2340864"/>
            <a:ext cx="82296" cy="82296"/>
          </a:xfrm>
          <a:prstGeom prst="ellipse">
            <a:avLst/>
          </a:prstGeom>
          <a:solidFill>
            <a:srgbClr val="2B1E6B"/>
          </a:solidFill>
          <a:ln/>
        </p:spPr>
        <p:txBody>
          <a:bodyPr/>
          <a:lstStyle/>
          <a:p>
            <a:endParaRPr lang="en-ZA"/>
          </a:p>
        </p:txBody>
      </p:sp>
      <p:sp>
        <p:nvSpPr>
          <p:cNvPr id="7" name="Text 5"/>
          <p:cNvSpPr/>
          <p:nvPr/>
        </p:nvSpPr>
        <p:spPr>
          <a:xfrm>
            <a:off x="1097280" y="2203704"/>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4,386 users generated 9,995 sessions (2.28 per user) across Q1 2016</a:t>
            </a:r>
            <a:endParaRPr lang="en-US" sz="1180" dirty="0"/>
          </a:p>
        </p:txBody>
      </p:sp>
      <p:sp>
        <p:nvSpPr>
          <p:cNvPr id="8" name="Shape 6"/>
          <p:cNvSpPr/>
          <p:nvPr/>
        </p:nvSpPr>
        <p:spPr>
          <a:xfrm>
            <a:off x="868680" y="3017520"/>
            <a:ext cx="82296" cy="82296"/>
          </a:xfrm>
          <a:prstGeom prst="ellipse">
            <a:avLst/>
          </a:prstGeom>
          <a:solidFill>
            <a:srgbClr val="2B1E6B"/>
          </a:solidFill>
          <a:ln/>
        </p:spPr>
        <p:txBody>
          <a:bodyPr/>
          <a:lstStyle/>
          <a:p>
            <a:endParaRPr lang="en-ZA"/>
          </a:p>
        </p:txBody>
      </p:sp>
      <p:sp>
        <p:nvSpPr>
          <p:cNvPr id="9" name="Text 7"/>
          <p:cNvSpPr/>
          <p:nvPr/>
        </p:nvSpPr>
        <p:spPr>
          <a:xfrm>
            <a:off x="1097280" y="2880360"/>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Audience skews strongly male (84.9%) and core-aged 25–44 (67.5%)</a:t>
            </a:r>
            <a:endParaRPr lang="en-US" sz="1180" dirty="0"/>
          </a:p>
        </p:txBody>
      </p:sp>
      <p:sp>
        <p:nvSpPr>
          <p:cNvPr id="10" name="Shape 8"/>
          <p:cNvSpPr/>
          <p:nvPr/>
        </p:nvSpPr>
        <p:spPr>
          <a:xfrm>
            <a:off x="868680" y="3694176"/>
            <a:ext cx="82296" cy="82296"/>
          </a:xfrm>
          <a:prstGeom prst="ellipse">
            <a:avLst/>
          </a:prstGeom>
          <a:solidFill>
            <a:srgbClr val="2B1E6B"/>
          </a:solidFill>
          <a:ln/>
        </p:spPr>
        <p:txBody>
          <a:bodyPr/>
          <a:lstStyle/>
          <a:p>
            <a:endParaRPr lang="en-ZA"/>
          </a:p>
        </p:txBody>
      </p:sp>
      <p:sp>
        <p:nvSpPr>
          <p:cNvPr id="11" name="Text 9"/>
          <p:cNvSpPr/>
          <p:nvPr/>
        </p:nvSpPr>
        <p:spPr>
          <a:xfrm>
            <a:off x="1097280" y="3557016"/>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Gauteng is the largest observed province, but reach is national</a:t>
            </a:r>
            <a:endParaRPr lang="en-US" sz="1180" dirty="0"/>
          </a:p>
        </p:txBody>
      </p:sp>
      <p:sp>
        <p:nvSpPr>
          <p:cNvPr id="12" name="Shape 10"/>
          <p:cNvSpPr/>
          <p:nvPr/>
        </p:nvSpPr>
        <p:spPr>
          <a:xfrm>
            <a:off x="868680" y="4370832"/>
            <a:ext cx="82296" cy="82296"/>
          </a:xfrm>
          <a:prstGeom prst="ellipse">
            <a:avLst/>
          </a:prstGeom>
          <a:solidFill>
            <a:srgbClr val="2B1E6B"/>
          </a:solidFill>
          <a:ln/>
        </p:spPr>
        <p:txBody>
          <a:bodyPr/>
          <a:lstStyle/>
          <a:p>
            <a:endParaRPr lang="en-ZA"/>
          </a:p>
        </p:txBody>
      </p:sp>
      <p:sp>
        <p:nvSpPr>
          <p:cNvPr id="13" name="Text 11"/>
          <p:cNvSpPr/>
          <p:nvPr/>
        </p:nvSpPr>
        <p:spPr>
          <a:xfrm>
            <a:off x="1097280" y="4233672"/>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Friday (1,673) is the peak day; Monday (956) is the weakest</a:t>
            </a:r>
            <a:endParaRPr lang="en-US" sz="1180" dirty="0"/>
          </a:p>
        </p:txBody>
      </p:sp>
      <p:sp>
        <p:nvSpPr>
          <p:cNvPr id="14" name="Shape 12"/>
          <p:cNvSpPr/>
          <p:nvPr/>
        </p:nvSpPr>
        <p:spPr>
          <a:xfrm>
            <a:off x="868680" y="5047488"/>
            <a:ext cx="82296" cy="82296"/>
          </a:xfrm>
          <a:prstGeom prst="ellipse">
            <a:avLst/>
          </a:prstGeom>
          <a:solidFill>
            <a:srgbClr val="2B1E6B"/>
          </a:solidFill>
          <a:ln/>
        </p:spPr>
        <p:txBody>
          <a:bodyPr/>
          <a:lstStyle/>
          <a:p>
            <a:endParaRPr lang="en-ZA"/>
          </a:p>
        </p:txBody>
      </p:sp>
      <p:sp>
        <p:nvSpPr>
          <p:cNvPr id="15" name="Text 13"/>
          <p:cNvSpPr/>
          <p:nvPr/>
        </p:nvSpPr>
        <p:spPr>
          <a:xfrm>
            <a:off x="1097280" y="4910328"/>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17:00 is the daily peak hour; sport content leads overall viewing</a:t>
            </a:r>
            <a:endParaRPr lang="en-US" sz="1180" dirty="0"/>
          </a:p>
        </p:txBody>
      </p:sp>
      <p:sp>
        <p:nvSpPr>
          <p:cNvPr id="16" name="Shape 14"/>
          <p:cNvSpPr/>
          <p:nvPr/>
        </p:nvSpPr>
        <p:spPr>
          <a:xfrm>
            <a:off x="868680" y="5724144"/>
            <a:ext cx="82296" cy="82296"/>
          </a:xfrm>
          <a:prstGeom prst="ellipse">
            <a:avLst/>
          </a:prstGeom>
          <a:solidFill>
            <a:srgbClr val="2B1E6B"/>
          </a:solidFill>
          <a:ln/>
        </p:spPr>
        <p:txBody>
          <a:bodyPr/>
          <a:lstStyle/>
          <a:p>
            <a:endParaRPr lang="en-ZA"/>
          </a:p>
        </p:txBody>
      </p:sp>
      <p:sp>
        <p:nvSpPr>
          <p:cNvPr id="17" name="Text 15"/>
          <p:cNvSpPr/>
          <p:nvPr/>
        </p:nvSpPr>
        <p:spPr>
          <a:xfrm>
            <a:off x="1097280" y="5586984"/>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On Monday specifically, music/entertainment beats sport</a:t>
            </a:r>
            <a:endParaRPr lang="en-US" sz="1180" dirty="0"/>
          </a:p>
        </p:txBody>
      </p:sp>
      <p:sp>
        <p:nvSpPr>
          <p:cNvPr id="18" name="Shape 16"/>
          <p:cNvSpPr/>
          <p:nvPr/>
        </p:nvSpPr>
        <p:spPr>
          <a:xfrm>
            <a:off x="6172200" y="1645920"/>
            <a:ext cx="5440680" cy="4572000"/>
          </a:xfrm>
          <a:prstGeom prst="roundRect">
            <a:avLst>
              <a:gd name="adj" fmla="val 1600"/>
            </a:avLst>
          </a:prstGeom>
          <a:solidFill>
            <a:srgbClr val="FFFFFF"/>
          </a:solidFill>
          <a:ln/>
          <a:effectLst>
            <a:outerShdw blurRad="101600" dist="25400" dir="5400000" algn="bl" rotWithShape="0">
              <a:srgbClr val="5B4FA8">
                <a:alpha val="14000"/>
              </a:srgbClr>
            </a:outerShdw>
          </a:effectLst>
        </p:spPr>
        <p:txBody>
          <a:bodyPr/>
          <a:lstStyle/>
          <a:p>
            <a:endParaRPr lang="en-ZA"/>
          </a:p>
        </p:txBody>
      </p:sp>
      <p:sp>
        <p:nvSpPr>
          <p:cNvPr id="19" name="Text 17"/>
          <p:cNvSpPr/>
          <p:nvPr/>
        </p:nvSpPr>
        <p:spPr>
          <a:xfrm>
            <a:off x="6492240" y="1828800"/>
            <a:ext cx="4572000" cy="320040"/>
          </a:xfrm>
          <a:prstGeom prst="rect">
            <a:avLst/>
          </a:prstGeom>
          <a:noFill/>
          <a:ln/>
        </p:spPr>
        <p:txBody>
          <a:bodyPr wrap="square" rtlCol="0" anchor="ctr"/>
          <a:lstStyle/>
          <a:p>
            <a:pPr marL="0" indent="0">
              <a:buNone/>
            </a:pPr>
            <a:r>
              <a:rPr lang="en-US" sz="1200" b="1" kern="0" spc="160" dirty="0">
                <a:solidFill>
                  <a:srgbClr val="F5A623"/>
                </a:solidFill>
                <a:latin typeface="Calibri" pitchFamily="34" charset="0"/>
                <a:ea typeface="Calibri" pitchFamily="34" charset="-122"/>
                <a:cs typeface="Calibri" pitchFamily="34" charset="-120"/>
              </a:rPr>
              <a:t>RECOMMENDATIONS</a:t>
            </a:r>
            <a:endParaRPr lang="en-US" sz="1200" dirty="0"/>
          </a:p>
        </p:txBody>
      </p:sp>
      <p:sp>
        <p:nvSpPr>
          <p:cNvPr id="20" name="Shape 18"/>
          <p:cNvSpPr/>
          <p:nvPr/>
        </p:nvSpPr>
        <p:spPr>
          <a:xfrm>
            <a:off x="6492240" y="2340864"/>
            <a:ext cx="82296" cy="82296"/>
          </a:xfrm>
          <a:prstGeom prst="ellipse">
            <a:avLst/>
          </a:prstGeom>
          <a:solidFill>
            <a:srgbClr val="F5A623"/>
          </a:solidFill>
          <a:ln/>
        </p:spPr>
        <p:txBody>
          <a:bodyPr/>
          <a:lstStyle/>
          <a:p>
            <a:endParaRPr lang="en-ZA"/>
          </a:p>
        </p:txBody>
      </p:sp>
      <p:sp>
        <p:nvSpPr>
          <p:cNvPr id="21" name="Text 19"/>
          <p:cNvSpPr/>
          <p:nvPr/>
        </p:nvSpPr>
        <p:spPr>
          <a:xfrm>
            <a:off x="6720840" y="2203704"/>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Deepen engagement with the 25–44 core via tailored bundles</a:t>
            </a:r>
            <a:endParaRPr lang="en-US" sz="1180" dirty="0"/>
          </a:p>
        </p:txBody>
      </p:sp>
      <p:sp>
        <p:nvSpPr>
          <p:cNvPr id="22" name="Shape 20"/>
          <p:cNvSpPr/>
          <p:nvPr/>
        </p:nvSpPr>
        <p:spPr>
          <a:xfrm>
            <a:off x="6492240" y="3017520"/>
            <a:ext cx="82296" cy="82296"/>
          </a:xfrm>
          <a:prstGeom prst="ellipse">
            <a:avLst/>
          </a:prstGeom>
          <a:solidFill>
            <a:srgbClr val="F5A623"/>
          </a:solidFill>
          <a:ln/>
        </p:spPr>
        <p:txBody>
          <a:bodyPr/>
          <a:lstStyle/>
          <a:p>
            <a:endParaRPr lang="en-ZA"/>
          </a:p>
        </p:txBody>
      </p:sp>
      <p:sp>
        <p:nvSpPr>
          <p:cNvPr id="23" name="Text 21"/>
          <p:cNvSpPr/>
          <p:nvPr/>
        </p:nvSpPr>
        <p:spPr>
          <a:xfrm>
            <a:off x="6720840" y="2880360"/>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Launch a female-focused acquisition &amp; content campaign</a:t>
            </a:r>
            <a:endParaRPr lang="en-US" sz="1180" dirty="0"/>
          </a:p>
        </p:txBody>
      </p:sp>
      <p:sp>
        <p:nvSpPr>
          <p:cNvPr id="24" name="Shape 22"/>
          <p:cNvSpPr/>
          <p:nvPr/>
        </p:nvSpPr>
        <p:spPr>
          <a:xfrm>
            <a:off x="6492240" y="3694176"/>
            <a:ext cx="82296" cy="82296"/>
          </a:xfrm>
          <a:prstGeom prst="ellipse">
            <a:avLst/>
          </a:prstGeom>
          <a:solidFill>
            <a:srgbClr val="F5A623"/>
          </a:solidFill>
          <a:ln/>
        </p:spPr>
        <p:txBody>
          <a:bodyPr/>
          <a:lstStyle/>
          <a:p>
            <a:endParaRPr lang="en-ZA"/>
          </a:p>
        </p:txBody>
      </p:sp>
      <p:sp>
        <p:nvSpPr>
          <p:cNvPr id="25" name="Text 23"/>
          <p:cNvSpPr/>
          <p:nvPr/>
        </p:nvSpPr>
        <p:spPr>
          <a:xfrm>
            <a:off x="6720840" y="3557016"/>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Build referral/advocacy programmes around engaged younger users</a:t>
            </a:r>
            <a:endParaRPr lang="en-US" sz="1180" dirty="0"/>
          </a:p>
        </p:txBody>
      </p:sp>
      <p:sp>
        <p:nvSpPr>
          <p:cNvPr id="26" name="Shape 24"/>
          <p:cNvSpPr/>
          <p:nvPr/>
        </p:nvSpPr>
        <p:spPr>
          <a:xfrm>
            <a:off x="6492240" y="4370832"/>
            <a:ext cx="82296" cy="82296"/>
          </a:xfrm>
          <a:prstGeom prst="ellipse">
            <a:avLst/>
          </a:prstGeom>
          <a:solidFill>
            <a:srgbClr val="F5A623"/>
          </a:solidFill>
          <a:ln/>
        </p:spPr>
        <p:txBody>
          <a:bodyPr/>
          <a:lstStyle/>
          <a:p>
            <a:endParaRPr lang="en-ZA"/>
          </a:p>
        </p:txBody>
      </p:sp>
      <p:sp>
        <p:nvSpPr>
          <p:cNvPr id="27" name="Text 25"/>
          <p:cNvSpPr/>
          <p:nvPr/>
        </p:nvSpPr>
        <p:spPr>
          <a:xfrm>
            <a:off x="6720840" y="4233672"/>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Expand regional marketing beyond Gauteng</a:t>
            </a:r>
            <a:endParaRPr lang="en-US" sz="1180" dirty="0"/>
          </a:p>
        </p:txBody>
      </p:sp>
      <p:sp>
        <p:nvSpPr>
          <p:cNvPr id="28" name="Shape 26"/>
          <p:cNvSpPr/>
          <p:nvPr/>
        </p:nvSpPr>
        <p:spPr>
          <a:xfrm>
            <a:off x="6492240" y="5047488"/>
            <a:ext cx="82296" cy="82296"/>
          </a:xfrm>
          <a:prstGeom prst="ellipse">
            <a:avLst/>
          </a:prstGeom>
          <a:solidFill>
            <a:srgbClr val="F5A623"/>
          </a:solidFill>
          <a:ln/>
        </p:spPr>
        <p:txBody>
          <a:bodyPr/>
          <a:lstStyle/>
          <a:p>
            <a:endParaRPr lang="en-ZA"/>
          </a:p>
        </p:txBody>
      </p:sp>
      <p:sp>
        <p:nvSpPr>
          <p:cNvPr id="29" name="Text 27"/>
          <p:cNvSpPr/>
          <p:nvPr/>
        </p:nvSpPr>
        <p:spPr>
          <a:xfrm>
            <a:off x="6720840" y="4910328"/>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Lead growth campaigns with major sport/event content</a:t>
            </a:r>
            <a:endParaRPr lang="en-US" sz="1180" dirty="0"/>
          </a:p>
        </p:txBody>
      </p:sp>
      <p:sp>
        <p:nvSpPr>
          <p:cNvPr id="30" name="Shape 28"/>
          <p:cNvSpPr/>
          <p:nvPr/>
        </p:nvSpPr>
        <p:spPr>
          <a:xfrm>
            <a:off x="6492240" y="5724144"/>
            <a:ext cx="82296" cy="82296"/>
          </a:xfrm>
          <a:prstGeom prst="ellipse">
            <a:avLst/>
          </a:prstGeom>
          <a:solidFill>
            <a:srgbClr val="F5A623"/>
          </a:solidFill>
          <a:ln/>
        </p:spPr>
        <p:txBody>
          <a:bodyPr/>
          <a:lstStyle/>
          <a:p>
            <a:endParaRPr lang="en-ZA"/>
          </a:p>
        </p:txBody>
      </p:sp>
      <p:sp>
        <p:nvSpPr>
          <p:cNvPr id="31" name="Text 29"/>
          <p:cNvSpPr/>
          <p:nvPr/>
        </p:nvSpPr>
        <p:spPr>
          <a:xfrm>
            <a:off x="6720840" y="5586984"/>
            <a:ext cx="4709160" cy="566928"/>
          </a:xfrm>
          <a:prstGeom prst="rect">
            <a:avLst/>
          </a:prstGeom>
          <a:noFill/>
          <a:ln/>
        </p:spPr>
        <p:txBody>
          <a:bodyPr wrap="square" rtlCol="0" anchor="ctr"/>
          <a:lstStyle/>
          <a:p>
            <a:pPr marL="0" indent="0">
              <a:lnSpc>
                <a:spcPts val="1500"/>
              </a:lnSpc>
              <a:buNone/>
            </a:pPr>
            <a:r>
              <a:rPr lang="en-US" sz="1180" dirty="0">
                <a:solidFill>
                  <a:srgbClr val="2A2A3C"/>
                </a:solidFill>
                <a:latin typeface="Calibri" pitchFamily="34" charset="0"/>
                <a:ea typeface="Calibri" pitchFamily="34" charset="-122"/>
                <a:cs typeface="Calibri" pitchFamily="34" charset="-120"/>
              </a:rPr>
              <a:t>Run Monday-specific entertainment programming &amp; evening pushes</a:t>
            </a:r>
            <a:endParaRPr lang="en-US" sz="1180" dirty="0"/>
          </a:p>
        </p:txBody>
      </p:sp>
      <p:sp>
        <p:nvSpPr>
          <p:cNvPr id="33" name="Text 30"/>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6B6B7D"/>
                </a:solidFill>
                <a:latin typeface="Calibri" pitchFamily="34" charset="0"/>
                <a:ea typeface="Calibri" pitchFamily="34" charset="-122"/>
                <a:cs typeface="Calibri" pitchFamily="34" charset="-120"/>
              </a:rPr>
              <a:t>BRIGHTTV VIEWERSHIP ANALYTICS</a:t>
            </a:r>
            <a:endParaRPr lang="en-US" sz="850" dirty="0"/>
          </a:p>
        </p:txBody>
      </p:sp>
      <p:sp>
        <p:nvSpPr>
          <p:cNvPr id="34" name="Text 31"/>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6B6B7D"/>
                </a:solidFill>
                <a:latin typeface="Calibri" pitchFamily="34" charset="0"/>
                <a:ea typeface="Calibri" pitchFamily="34" charset="-122"/>
                <a:cs typeface="Calibri" pitchFamily="34" charset="-120"/>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1548"/>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754880" cy="4754880"/>
          </a:xfrm>
          <a:prstGeom prst="ellipse">
            <a:avLst/>
          </a:prstGeom>
          <a:solidFill>
            <a:srgbClr val="2B1E6B"/>
          </a:solidFill>
          <a:ln/>
        </p:spPr>
        <p:txBody>
          <a:bodyPr/>
          <a:lstStyle/>
          <a:p>
            <a:endParaRPr lang="en-ZA"/>
          </a:p>
        </p:txBody>
      </p:sp>
      <p:sp>
        <p:nvSpPr>
          <p:cNvPr id="3" name="Shape 1"/>
          <p:cNvSpPr/>
          <p:nvPr/>
        </p:nvSpPr>
        <p:spPr>
          <a:xfrm>
            <a:off x="-1280160" y="4389120"/>
            <a:ext cx="3474720" cy="3474720"/>
          </a:xfrm>
          <a:prstGeom prst="ellipse">
            <a:avLst/>
          </a:prstGeom>
          <a:solidFill>
            <a:srgbClr val="241C56"/>
          </a:solidFill>
          <a:ln/>
        </p:spPr>
        <p:txBody>
          <a:bodyPr/>
          <a:lstStyle/>
          <a:p>
            <a:endParaRPr lang="en-ZA"/>
          </a:p>
        </p:txBody>
      </p:sp>
      <p:sp>
        <p:nvSpPr>
          <p:cNvPr id="4" name="Text 2"/>
          <p:cNvSpPr/>
          <p:nvPr/>
        </p:nvSpPr>
        <p:spPr>
          <a:xfrm>
            <a:off x="640080" y="2286000"/>
            <a:ext cx="8229600" cy="365760"/>
          </a:xfrm>
          <a:prstGeom prst="rect">
            <a:avLst/>
          </a:prstGeom>
          <a:noFill/>
          <a:ln/>
        </p:spPr>
        <p:txBody>
          <a:bodyPr wrap="square" rtlCol="0" anchor="ctr"/>
          <a:lstStyle/>
          <a:p>
            <a:pPr marL="0" indent="0">
              <a:buNone/>
            </a:pPr>
            <a:r>
              <a:rPr lang="en-US" sz="1300" b="1" kern="0" spc="260" dirty="0">
                <a:solidFill>
                  <a:srgbClr val="F5A623"/>
                </a:solidFill>
                <a:latin typeface="Calibri" pitchFamily="34" charset="0"/>
                <a:ea typeface="Calibri" pitchFamily="34" charset="-122"/>
                <a:cs typeface="Calibri" pitchFamily="34" charset="-120"/>
              </a:rPr>
              <a:t>THANK YOU</a:t>
            </a:r>
            <a:endParaRPr lang="en-US" sz="1300" dirty="0"/>
          </a:p>
        </p:txBody>
      </p:sp>
      <p:sp>
        <p:nvSpPr>
          <p:cNvPr id="5" name="Text 3"/>
          <p:cNvSpPr/>
          <p:nvPr/>
        </p:nvSpPr>
        <p:spPr>
          <a:xfrm>
            <a:off x="594360" y="2651760"/>
            <a:ext cx="9601200" cy="100584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Questions &amp; Discussion</a:t>
            </a:r>
            <a:endParaRPr lang="en-US" sz="4000" dirty="0"/>
          </a:p>
        </p:txBody>
      </p:sp>
      <p:sp>
        <p:nvSpPr>
          <p:cNvPr id="6" name="Text 4"/>
          <p:cNvSpPr/>
          <p:nvPr/>
        </p:nvSpPr>
        <p:spPr>
          <a:xfrm>
            <a:off x="640080" y="3657600"/>
            <a:ext cx="8046720" cy="822960"/>
          </a:xfrm>
          <a:prstGeom prst="rect">
            <a:avLst/>
          </a:prstGeom>
          <a:noFill/>
          <a:ln/>
        </p:spPr>
        <p:txBody>
          <a:bodyPr wrap="square" rtlCol="0" anchor="ctr"/>
          <a:lstStyle/>
          <a:p>
            <a:pPr marL="0" indent="0">
              <a:lnSpc>
                <a:spcPts val="2000"/>
              </a:lnSpc>
              <a:buNone/>
            </a:pPr>
            <a:r>
              <a:rPr lang="en-US" sz="1400" i="1" dirty="0">
                <a:solidFill>
                  <a:srgbClr val="CCC4F2"/>
                </a:solidFill>
                <a:latin typeface="Calibri" pitchFamily="34" charset="0"/>
                <a:ea typeface="Calibri" pitchFamily="34" charset="-122"/>
                <a:cs typeface="Calibri" pitchFamily="34" charset="-120"/>
              </a:rPr>
              <a:t>Data-led insight for BrightTV's CVM team — to grow the subscriber base, lift Monday engagement, and deepen the 25–44 core audience.</a:t>
            </a:r>
            <a:endParaRPr lang="en-US" sz="1400" dirty="0"/>
          </a:p>
        </p:txBody>
      </p:sp>
      <p:pic>
        <p:nvPicPr>
          <p:cNvPr id="7" name="Image 0" descr="/home/claude/assets/icon_tv_white.png"/>
          <p:cNvPicPr>
            <a:picLocks noChangeAspect="1"/>
          </p:cNvPicPr>
          <p:nvPr/>
        </p:nvPicPr>
        <p:blipFill>
          <a:blip r:embed="rId3"/>
          <a:stretch>
            <a:fillRect/>
          </a:stretch>
        </p:blipFill>
        <p:spPr>
          <a:xfrm>
            <a:off x="10561320" y="502920"/>
            <a:ext cx="502920" cy="502920"/>
          </a:xfrm>
          <a:prstGeom prst="rect">
            <a:avLst/>
          </a:prstGeom>
        </p:spPr>
      </p:pic>
      <p:sp>
        <p:nvSpPr>
          <p:cNvPr id="9" name="Text 5"/>
          <p:cNvSpPr/>
          <p:nvPr/>
        </p:nvSpPr>
        <p:spPr>
          <a:xfrm>
            <a:off x="457200" y="6473952"/>
            <a:ext cx="5486400" cy="274320"/>
          </a:xfrm>
          <a:prstGeom prst="rect">
            <a:avLst/>
          </a:prstGeom>
          <a:noFill/>
          <a:ln/>
        </p:spPr>
        <p:txBody>
          <a:bodyPr wrap="square" rtlCol="0" anchor="ctr"/>
          <a:lstStyle/>
          <a:p>
            <a:pPr marL="0" indent="0" algn="l">
              <a:buNone/>
            </a:pPr>
            <a:r>
              <a:rPr lang="en-US" sz="850" kern="0" spc="100" dirty="0">
                <a:solidFill>
                  <a:srgbClr val="B8B0E8"/>
                </a:solidFill>
                <a:latin typeface="Calibri" pitchFamily="34" charset="0"/>
                <a:ea typeface="Calibri" pitchFamily="34" charset="-122"/>
                <a:cs typeface="Calibri" pitchFamily="34" charset="-120"/>
              </a:rPr>
              <a:t>BRIGHTTV VIEWERSHIP ANALYTICS</a:t>
            </a:r>
            <a:endParaRPr lang="en-US" sz="850" dirty="0"/>
          </a:p>
        </p:txBody>
      </p:sp>
      <p:sp>
        <p:nvSpPr>
          <p:cNvPr id="10" name="Text 6"/>
          <p:cNvSpPr/>
          <p:nvPr/>
        </p:nvSpPr>
        <p:spPr>
          <a:xfrm>
            <a:off x="10911535" y="6473952"/>
            <a:ext cx="822960" cy="274320"/>
          </a:xfrm>
          <a:prstGeom prst="rect">
            <a:avLst/>
          </a:prstGeom>
          <a:noFill/>
          <a:ln/>
        </p:spPr>
        <p:txBody>
          <a:bodyPr wrap="square" rtlCol="0" anchor="ctr"/>
          <a:lstStyle/>
          <a:p>
            <a:pPr marL="0" indent="0" algn="r">
              <a:buNone/>
            </a:pPr>
            <a:r>
              <a:rPr lang="en-US" sz="850" dirty="0">
                <a:solidFill>
                  <a:srgbClr val="B8B0E8"/>
                </a:solidFill>
                <a:latin typeface="Calibri" pitchFamily="34" charset="0"/>
                <a:ea typeface="Calibri" pitchFamily="34" charset="-122"/>
                <a:cs typeface="Calibri" pitchFamily="34" charset="-120"/>
              </a:rPr>
              <a:t>18 / 18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2250</Words>
  <Application>Microsoft Office PowerPoint</Application>
  <PresentationFormat>Widescreen</PresentationFormat>
  <Paragraphs>227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dr peimpty</cp:lastModifiedBy>
  <cp:revision>1</cp:revision>
  <dcterms:created xsi:type="dcterms:W3CDTF">2026-08-19T17:26:34Z</dcterms:created>
  <dcterms:modified xsi:type="dcterms:W3CDTF">2026-08-19T17:38:09Z</dcterms:modified>
</cp:coreProperties>
</file>